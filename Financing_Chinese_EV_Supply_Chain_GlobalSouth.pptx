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Projects</c:v>
                </c:pt>
              </c:strCache>
            </c:strRef>
          </c:tx>
          <c:spPr>
            <a:solidFill>
              <a:srgbClr val="12736E"/>
            </a:solidFill>
            <a:effectLst/>
          </c:spPr>
          <c:invertIfNegative val="0"/>
          <c:dLbls>
            <c:numFmt formatCode="#,##0" sourceLinked="0"/>
            <c:txPr>
              <a:bodyPr/>
              <a:lstStyle/>
              <a:p>
                <a:pPr>
                  <a:defRPr b="1" i="0" strike="noStrike" sz="1200" u="none">
                    <a:solidFill>
                      <a:srgbClr val="1C2B2A"/>
                    </a:solidFill>
                    <a:latin typeface="Calibri"/>
                  </a:defRPr>
                </a:pPr>
              </a:p>
            </c:txPr>
            <c:showLegendKey val="0"/>
            <c:showVal val="1"/>
            <c:showCatName val="0"/>
            <c:showSerName val="0"/>
            <c:showPercent val="0"/>
            <c:showBubbleSize val="0"/>
            <c:showLeaderLines val="0"/>
          </c:dLbls>
          <c:dPt>
            <c:idx val="0"/>
            <c:invertIfNegative val="0"/>
            <c:bubble3D val="0"/>
            <c:spPr>
              <a:solidFill>
                <a:srgbClr val="12736E"/>
              </a:solidFill>
              <a:effectLst/>
            </c:spPr>
          </c:dPt>
          <c:dPt>
            <c:idx val="1"/>
            <c:invertIfNegative val="0"/>
            <c:bubble3D val="0"/>
            <c:spPr>
              <a:solidFill>
                <a:srgbClr val="B9C2C0"/>
              </a:solidFill>
              <a:effectLst/>
            </c:spPr>
          </c:dPt>
          <c:dPt>
            <c:idx val="2"/>
            <c:invertIfNegative val="0"/>
            <c:bubble3D val="0"/>
            <c:spPr>
              <a:solidFill>
                <a:srgbClr val="B9C2C0"/>
              </a:solidFill>
              <a:effectLst/>
            </c:spPr>
          </c:dPt>
          <c:dPt>
            <c:idx val="3"/>
            <c:invertIfNegative val="0"/>
            <c:bubble3D val="0"/>
            <c:spPr>
              <a:solidFill>
                <a:srgbClr val="B9C2C0"/>
              </a:solidFill>
              <a:effectLst/>
            </c:spPr>
          </c:dPt>
          <c:dPt>
            <c:idx val="4"/>
            <c:invertIfNegative val="0"/>
            <c:bubble3D val="0"/>
            <c:spPr>
              <a:solidFill>
                <a:srgbClr val="BE7C1E"/>
              </a:solidFill>
              <a:effectLst/>
            </c:spPr>
          </c:dPt>
          <c:dPt>
            <c:idx val="5"/>
            <c:invertIfNegative val="0"/>
            <c:bubble3D val="0"/>
            <c:spPr>
              <a:solidFill>
                <a:srgbClr val="B9C2C0"/>
              </a:solidFill>
              <a:effectLst/>
            </c:spPr>
          </c:dPt>
          <c:dPt>
            <c:idx val="6"/>
            <c:invertIfNegative val="0"/>
            <c:bubble3D val="0"/>
            <c:spPr>
              <a:solidFill>
                <a:srgbClr val="B9C2C0"/>
              </a:solidFill>
              <a:effectLst/>
            </c:spPr>
          </c:dPt>
          <c:dPt>
            <c:idx val="7"/>
            <c:invertIfNegative val="0"/>
            <c:bubble3D val="0"/>
            <c:spPr>
              <a:solidFill>
                <a:srgbClr val="B9C2C0"/>
              </a:solidFill>
              <a:effectLst/>
            </c:spPr>
          </c:dPt>
          <c:cat>
            <c:multiLvlStrRef>
              <c:f>Sheet1!$A$2:$A$9</c:f>
              <c:multiLvlStrCache>
                <c:ptCount val="8"/>
                <c:lvl>
                  <c:pt idx="0">
                    <c:v>Indonesia</c:v>
                  </c:pt>
                  <c:pt idx="1">
                    <c:v>Malaysia</c:v>
                  </c:pt>
                  <c:pt idx="2">
                    <c:v>Egypt</c:v>
                  </c:pt>
                  <c:pt idx="3">
                    <c:v>Saudi Arabia</c:v>
                  </c:pt>
                  <c:pt idx="4">
                    <c:v>Morocco</c:v>
                  </c:pt>
                  <c:pt idx="5">
                    <c:v>Spain</c:v>
                  </c:pt>
                  <c:pt idx="6">
                    <c:v>USA</c:v>
                  </c:pt>
                  <c:pt idx="7">
                    <c:v>Turkey</c:v>
                  </c:pt>
                </c:lvl>
              </c:multiLvlStrCache>
            </c:multiLvlStrRef>
          </c:cat>
          <c:val>
            <c:numRef>
              <c:f>Sheet1!$B$2:$B$9</c:f>
              <c:numCache>
                <c:formatCode>General</c:formatCode>
                <c:ptCount val="8"/>
                <c:pt idx="0">
                  <c:v>29</c:v>
                </c:pt>
                <c:pt idx="1">
                  <c:v>16</c:v>
                </c:pt>
                <c:pt idx="2">
                  <c:v>11</c:v>
                </c:pt>
                <c:pt idx="3">
                  <c:v>10</c:v>
                </c:pt>
                <c:pt idx="4">
                  <c:v>10</c:v>
                </c:pt>
                <c:pt idx="5">
                  <c:v>9</c:v>
                </c:pt>
                <c:pt idx="6">
                  <c:v>9</c:v>
                </c:pt>
                <c:pt idx="7">
                  <c:v>7</c:v>
                </c:pt>
              </c:numCache>
            </c:numRef>
          </c:val>
        </c:ser>
        <c:dLbls>
          <c:numFmt formatCode="#,##0" sourceLinked="0"/>
          <c:txPr>
            <a:bodyPr/>
            <a:lstStyle/>
            <a:p>
              <a:pPr>
                <a:defRPr b="1" i="0" strike="noStrike" sz="1200" u="none">
                  <a:solidFill>
                    <a:srgbClr val="1C2B2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C2B2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5F3EE"/>
        </a:solidFill>
        <a:ln>
          <a:noFill/>
        </a:ln>
        <a:effectLst/>
      </c:spPr>
    </c:plotArea>
    <c:plotVisOnly val="1"/>
    <c:dispBlanksAs val="span"/>
  </c:chart>
  <c:spPr>
    <a:solidFill>
      <a:srgbClr val="F5F3E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B3A"/>
        </a:solidFill>
      </p:bgPr>
    </p:bg>
    <p:spTree>
      <p:nvGrpSpPr>
        <p:cNvPr id="1" name=""/>
        <p:cNvGrpSpPr/>
        <p:nvPr/>
      </p:nvGrpSpPr>
      <p:grpSpPr>
        <a:xfrm>
          <a:off x="0" y="0"/>
          <a:ext cx="0" cy="0"/>
          <a:chOff x="0" y="0"/>
          <a:chExt cx="0" cy="0"/>
        </a:xfrm>
      </p:grpSpPr>
      <p:sp>
        <p:nvSpPr>
          <p:cNvPr id="2" name="Shape 0"/>
          <p:cNvSpPr/>
          <p:nvPr/>
        </p:nvSpPr>
        <p:spPr>
          <a:xfrm>
            <a:off x="548640" y="914400"/>
            <a:ext cx="201168" cy="201168"/>
          </a:xfrm>
          <a:prstGeom prst="ellipse">
            <a:avLst/>
          </a:prstGeom>
          <a:solidFill>
            <a:srgbClr val="12736E"/>
          </a:solidFill>
          <a:ln/>
        </p:spPr>
      </p:sp>
      <p:sp>
        <p:nvSpPr>
          <p:cNvPr id="3" name="Shape 1"/>
          <p:cNvSpPr/>
          <p:nvPr/>
        </p:nvSpPr>
        <p:spPr>
          <a:xfrm>
            <a:off x="841248" y="914400"/>
            <a:ext cx="201168" cy="201168"/>
          </a:xfrm>
          <a:prstGeom prst="ellipse">
            <a:avLst/>
          </a:prstGeom>
          <a:solidFill>
            <a:srgbClr val="BE7C1E"/>
          </a:solidFill>
          <a:ln/>
        </p:spPr>
      </p:sp>
      <p:sp>
        <p:nvSpPr>
          <p:cNvPr id="4" name="Shape 2"/>
          <p:cNvSpPr/>
          <p:nvPr/>
        </p:nvSpPr>
        <p:spPr>
          <a:xfrm>
            <a:off x="1133856" y="914400"/>
            <a:ext cx="201168" cy="201168"/>
          </a:xfrm>
          <a:prstGeom prst="ellipse">
            <a:avLst/>
          </a:prstGeom>
          <a:solidFill>
            <a:srgbClr val="2F6690"/>
          </a:solidFill>
          <a:ln/>
        </p:spPr>
      </p:sp>
      <p:sp>
        <p:nvSpPr>
          <p:cNvPr id="5" name="Text 3"/>
          <p:cNvSpPr/>
          <p:nvPr/>
        </p:nvSpPr>
        <p:spPr>
          <a:xfrm>
            <a:off x="548640" y="1325880"/>
            <a:ext cx="10058400" cy="365760"/>
          </a:xfrm>
          <a:prstGeom prst="rect">
            <a:avLst/>
          </a:prstGeom>
          <a:noFill/>
          <a:ln/>
        </p:spPr>
        <p:txBody>
          <a:bodyPr wrap="square" lIns="0" tIns="0" rIns="0" bIns="0" rtlCol="0" anchor="ctr"/>
          <a:lstStyle/>
          <a:p>
            <a:pPr indent="0" marL="0">
              <a:buNone/>
            </a:pPr>
            <a:r>
              <a:rPr lang="en-US" sz="1500" b="1" spc="300" kern="0" dirty="0">
                <a:solidFill>
                  <a:srgbClr val="D9B25A"/>
                </a:solidFill>
                <a:latin typeface="Calibri" pitchFamily="34" charset="0"/>
                <a:ea typeface="Calibri" pitchFamily="34" charset="-122"/>
                <a:cs typeface="Calibri" pitchFamily="34" charset="-120"/>
              </a:rPr>
              <a:t>GLOBAL SOUTH  ·  EV TRANSITION</a:t>
            </a:r>
            <a:endParaRPr lang="en-US" sz="1500" dirty="0"/>
          </a:p>
        </p:txBody>
      </p:sp>
      <p:sp>
        <p:nvSpPr>
          <p:cNvPr id="6" name="Text 4"/>
          <p:cNvSpPr/>
          <p:nvPr/>
        </p:nvSpPr>
        <p:spPr>
          <a:xfrm>
            <a:off x="548640" y="1828800"/>
            <a:ext cx="10972800" cy="173736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Financing the Batteries Behind</a:t>
            </a:r>
            <a:endParaRPr lang="en-US" sz="4600" dirty="0"/>
          </a:p>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the EV Transition</a:t>
            </a:r>
            <a:endParaRPr lang="en-US" sz="4600" dirty="0"/>
          </a:p>
        </p:txBody>
      </p:sp>
      <p:sp>
        <p:nvSpPr>
          <p:cNvPr id="7" name="Text 5"/>
          <p:cNvSpPr/>
          <p:nvPr/>
        </p:nvSpPr>
        <p:spPr>
          <a:xfrm>
            <a:off x="548640" y="3611880"/>
            <a:ext cx="9601200" cy="822960"/>
          </a:xfrm>
          <a:prstGeom prst="rect">
            <a:avLst/>
          </a:prstGeom>
          <a:noFill/>
          <a:ln/>
        </p:spPr>
        <p:txBody>
          <a:bodyPr wrap="square" lIns="0" tIns="0" rIns="0" bIns="0" rtlCol="0" anchor="ctr"/>
          <a:lstStyle/>
          <a:p>
            <a:pPr indent="0" marL="0">
              <a:buNone/>
            </a:pPr>
            <a:r>
              <a:rPr lang="en-US" sz="1800" dirty="0">
                <a:solidFill>
                  <a:srgbClr val="CFE0DE"/>
                </a:solidFill>
                <a:latin typeface="Calibri" pitchFamily="34" charset="0"/>
                <a:ea typeface="Calibri" pitchFamily="34" charset="-122"/>
                <a:cs typeface="Calibri" pitchFamily="34" charset="-120"/>
              </a:rPr>
              <a:t>How Chinese capital is building the Global South's new-energy supply chain — three financing models, three countries.</a:t>
            </a:r>
            <a:endParaRPr lang="en-US" sz="1800" dirty="0"/>
          </a:p>
        </p:txBody>
      </p:sp>
      <p:sp>
        <p:nvSpPr>
          <p:cNvPr id="8" name="Shape 6"/>
          <p:cNvSpPr/>
          <p:nvPr/>
        </p:nvSpPr>
        <p:spPr>
          <a:xfrm>
            <a:off x="548640" y="5074920"/>
            <a:ext cx="182880" cy="182880"/>
          </a:xfrm>
          <a:prstGeom prst="ellipse">
            <a:avLst/>
          </a:prstGeom>
          <a:solidFill>
            <a:srgbClr val="12736E"/>
          </a:solidFill>
          <a:ln/>
        </p:spPr>
      </p:sp>
      <p:sp>
        <p:nvSpPr>
          <p:cNvPr id="9" name="Text 7"/>
          <p:cNvSpPr/>
          <p:nvPr/>
        </p:nvSpPr>
        <p:spPr>
          <a:xfrm>
            <a:off x="841248" y="4992624"/>
            <a:ext cx="3291840" cy="347472"/>
          </a:xfrm>
          <a:prstGeom prst="rect">
            <a:avLst/>
          </a:prstGeom>
          <a:noFill/>
          <a:ln/>
        </p:spPr>
        <p:txBody>
          <a:bodyPr wrap="square" lIns="0" tIns="0" rIns="0" bIns="0" rtlCol="0" anchor="ctr"/>
          <a:lstStyle/>
          <a:p>
            <a:pPr indent="0" marL="0">
              <a:buNone/>
            </a:pPr>
            <a:r>
              <a:rPr lang="en-US" sz="1300" b="1" dirty="0">
                <a:solidFill>
                  <a:srgbClr val="EAF1F0"/>
                </a:solidFill>
                <a:latin typeface="Calibri" pitchFamily="34" charset="0"/>
                <a:ea typeface="Calibri" pitchFamily="34" charset="-122"/>
                <a:cs typeface="Calibri" pitchFamily="34" charset="-120"/>
              </a:rPr>
              <a:t>Equity JV — Indonesia</a:t>
            </a:r>
            <a:endParaRPr lang="en-US" sz="1300" dirty="0"/>
          </a:p>
        </p:txBody>
      </p:sp>
      <p:sp>
        <p:nvSpPr>
          <p:cNvPr id="10" name="Shape 8"/>
          <p:cNvSpPr/>
          <p:nvPr/>
        </p:nvSpPr>
        <p:spPr>
          <a:xfrm>
            <a:off x="4206240" y="5074920"/>
            <a:ext cx="182880" cy="182880"/>
          </a:xfrm>
          <a:prstGeom prst="ellipse">
            <a:avLst/>
          </a:prstGeom>
          <a:solidFill>
            <a:srgbClr val="BE7C1E"/>
          </a:solidFill>
          <a:ln/>
        </p:spPr>
      </p:sp>
      <p:sp>
        <p:nvSpPr>
          <p:cNvPr id="11" name="Text 9"/>
          <p:cNvSpPr/>
          <p:nvPr/>
        </p:nvSpPr>
        <p:spPr>
          <a:xfrm>
            <a:off x="4498848" y="4992624"/>
            <a:ext cx="3291840" cy="347472"/>
          </a:xfrm>
          <a:prstGeom prst="rect">
            <a:avLst/>
          </a:prstGeom>
          <a:noFill/>
          <a:ln/>
        </p:spPr>
        <p:txBody>
          <a:bodyPr wrap="square" lIns="0" tIns="0" rIns="0" bIns="0" rtlCol="0" anchor="ctr"/>
          <a:lstStyle/>
          <a:p>
            <a:pPr indent="0" marL="0">
              <a:buNone/>
            </a:pPr>
            <a:r>
              <a:rPr lang="en-US" sz="1300" b="1" dirty="0">
                <a:solidFill>
                  <a:srgbClr val="EAF1F0"/>
                </a:solidFill>
                <a:latin typeface="Calibri" pitchFamily="34" charset="0"/>
                <a:ea typeface="Calibri" pitchFamily="34" charset="-122"/>
                <a:cs typeface="Calibri" pitchFamily="34" charset="-120"/>
              </a:rPr>
              <a:t>Blended Equity — Morocco</a:t>
            </a:r>
            <a:endParaRPr lang="en-US" sz="1300" dirty="0"/>
          </a:p>
        </p:txBody>
      </p:sp>
      <p:sp>
        <p:nvSpPr>
          <p:cNvPr id="12" name="Shape 10"/>
          <p:cNvSpPr/>
          <p:nvPr/>
        </p:nvSpPr>
        <p:spPr>
          <a:xfrm>
            <a:off x="7863840" y="5074920"/>
            <a:ext cx="182880" cy="182880"/>
          </a:xfrm>
          <a:prstGeom prst="ellipse">
            <a:avLst/>
          </a:prstGeom>
          <a:solidFill>
            <a:srgbClr val="2F6690"/>
          </a:solidFill>
          <a:ln/>
        </p:spPr>
      </p:sp>
      <p:sp>
        <p:nvSpPr>
          <p:cNvPr id="13" name="Text 11"/>
          <p:cNvSpPr/>
          <p:nvPr/>
        </p:nvSpPr>
        <p:spPr>
          <a:xfrm>
            <a:off x="8156448" y="4992624"/>
            <a:ext cx="3291840" cy="347472"/>
          </a:xfrm>
          <a:prstGeom prst="rect">
            <a:avLst/>
          </a:prstGeom>
          <a:noFill/>
          <a:ln/>
        </p:spPr>
        <p:txBody>
          <a:bodyPr wrap="square" lIns="0" tIns="0" rIns="0" bIns="0" rtlCol="0" anchor="ctr"/>
          <a:lstStyle/>
          <a:p>
            <a:pPr indent="0" marL="0">
              <a:buNone/>
            </a:pPr>
            <a:r>
              <a:rPr lang="en-US" sz="1300" b="1" dirty="0">
                <a:solidFill>
                  <a:srgbClr val="EAF1F0"/>
                </a:solidFill>
                <a:latin typeface="Calibri" pitchFamily="34" charset="0"/>
                <a:ea typeface="Calibri" pitchFamily="34" charset="-122"/>
                <a:cs typeface="Calibri" pitchFamily="34" charset="-120"/>
              </a:rPr>
              <a:t>Green Debt — Morocco</a:t>
            </a:r>
            <a:endParaRPr lang="en-US" sz="1300" dirty="0"/>
          </a:p>
        </p:txBody>
      </p:sp>
      <p:sp>
        <p:nvSpPr>
          <p:cNvPr id="14" name="Shape 12"/>
          <p:cNvSpPr/>
          <p:nvPr/>
        </p:nvSpPr>
        <p:spPr>
          <a:xfrm>
            <a:off x="548640" y="5989320"/>
            <a:ext cx="11091672" cy="0"/>
          </a:xfrm>
          <a:prstGeom prst="line">
            <a:avLst/>
          </a:prstGeom>
          <a:noFill/>
          <a:ln w="12700">
            <a:solidFill>
              <a:srgbClr val="2A5B59"/>
            </a:solidFill>
            <a:prstDash val="solid"/>
          </a:ln>
        </p:spPr>
      </p:sp>
      <p:sp>
        <p:nvSpPr>
          <p:cNvPr id="15" name="Text 13"/>
          <p:cNvSpPr/>
          <p:nvPr/>
        </p:nvSpPr>
        <p:spPr>
          <a:xfrm>
            <a:off x="548640" y="6126480"/>
            <a:ext cx="10972800" cy="320040"/>
          </a:xfrm>
          <a:prstGeom prst="rect">
            <a:avLst/>
          </a:prstGeom>
          <a:noFill/>
          <a:ln/>
        </p:spPr>
        <p:txBody>
          <a:bodyPr wrap="square" lIns="0" tIns="0" rIns="0" bIns="0" rtlCol="0" anchor="ctr"/>
          <a:lstStyle/>
          <a:p>
            <a:pPr indent="0" marL="0">
              <a:buNone/>
            </a:pPr>
            <a:r>
              <a:rPr lang="en-US" sz="1100" dirty="0">
                <a:solidFill>
                  <a:srgbClr val="8FA9A7"/>
                </a:solidFill>
                <a:latin typeface="Calibri" pitchFamily="34" charset="0"/>
                <a:ea typeface="Calibri" pitchFamily="34" charset="-122"/>
                <a:cs typeface="Calibri" pitchFamily="34" charset="-120"/>
              </a:rPr>
              <a:t>A 10-minute briefing  ·  May 2026  ·  Source: BRI Renewable Energy Database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1C2B2A"/>
                </a:solidFill>
                <a:latin typeface="Georgia" pitchFamily="34" charset="0"/>
                <a:ea typeface="Georgia" pitchFamily="34" charset="-122"/>
                <a:cs typeface="Georgia" pitchFamily="34" charset="-120"/>
              </a:rPr>
              <a:t>The EV transition is a supply-chain transition</a:t>
            </a:r>
            <a:endParaRPr lang="en-US" sz="3000" dirty="0"/>
          </a:p>
        </p:txBody>
      </p:sp>
      <p:sp>
        <p:nvSpPr>
          <p:cNvPr id="3" name="Text 1"/>
          <p:cNvSpPr/>
          <p:nvPr/>
        </p:nvSpPr>
        <p:spPr>
          <a:xfrm>
            <a:off x="548640" y="1234440"/>
            <a:ext cx="11064240" cy="1097280"/>
          </a:xfrm>
          <a:prstGeom prst="rect">
            <a:avLst/>
          </a:prstGeom>
          <a:noFill/>
          <a:ln/>
        </p:spPr>
        <p:txBody>
          <a:bodyPr wrap="square" lIns="0" tIns="0" rIns="0" bIns="0" rtlCol="0" anchor="ctr"/>
          <a:lstStyle/>
          <a:p>
            <a:pPr indent="0" marL="0">
              <a:lnSpc>
                <a:spcPct val="105000"/>
              </a:lnSpc>
              <a:buNone/>
            </a:pPr>
            <a:r>
              <a:rPr lang="en-US" sz="1500" dirty="0">
                <a:solidFill>
                  <a:srgbClr val="1C2B2A"/>
                </a:solidFill>
                <a:latin typeface="Calibri" pitchFamily="34" charset="0"/>
                <a:ea typeface="Calibri" pitchFamily="34" charset="-122"/>
                <a:cs typeface="Calibri" pitchFamily="34" charset="-120"/>
              </a:rPr>
              <a:t>Global South countries no longer just want to import electric vehicles — they want to capture the value chain that builds them: critical minerals, battery materials, cells, and eventually the cars. Chinese firms are the dominant builders of that capacity abroad. For host governments, the decisive questions are how each plant is financed — and who ends up owning it.</a:t>
            </a:r>
            <a:endParaRPr lang="en-US" sz="1500" dirty="0"/>
          </a:p>
        </p:txBody>
      </p:sp>
      <p:sp>
        <p:nvSpPr>
          <p:cNvPr id="4" name="Shape 2"/>
          <p:cNvSpPr/>
          <p:nvPr/>
        </p:nvSpPr>
        <p:spPr>
          <a:xfrm>
            <a:off x="1432179" y="3063240"/>
            <a:ext cx="1005840" cy="1005840"/>
          </a:xfrm>
          <a:prstGeom prst="ellipse">
            <a:avLst/>
          </a:prstGeom>
          <a:solidFill>
            <a:srgbClr val="12736E"/>
          </a:solidFill>
          <a:ln/>
          <a:effectLst>
            <a:outerShdw sx="100000" sy="100000" kx="0" ky="0" algn="bl" rotWithShape="0" blurRad="88900" dist="381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1679067" y="3319272"/>
            <a:ext cx="512064" cy="512064"/>
          </a:xfrm>
          <a:prstGeom prst="rect">
            <a:avLst/>
          </a:prstGeom>
        </p:spPr>
      </p:pic>
      <p:sp>
        <p:nvSpPr>
          <p:cNvPr id="6" name="Text 3"/>
          <p:cNvSpPr/>
          <p:nvPr/>
        </p:nvSpPr>
        <p:spPr>
          <a:xfrm>
            <a:off x="654939" y="4160520"/>
            <a:ext cx="2560320" cy="320040"/>
          </a:xfrm>
          <a:prstGeom prst="rect">
            <a:avLst/>
          </a:prstGeom>
          <a:noFill/>
          <a:ln/>
        </p:spPr>
        <p:txBody>
          <a:bodyPr wrap="square" lIns="0" tIns="0" rIns="0" bIns="0" rtlCol="0" anchor="ctr"/>
          <a:lstStyle/>
          <a:p>
            <a:pPr algn="ctr" indent="0" marL="0">
              <a:buNone/>
            </a:pPr>
            <a:r>
              <a:rPr lang="en-US" sz="1400" b="1" dirty="0">
                <a:solidFill>
                  <a:srgbClr val="1C2B2A"/>
                </a:solidFill>
                <a:latin typeface="Calibri" pitchFamily="34" charset="0"/>
                <a:ea typeface="Calibri" pitchFamily="34" charset="-122"/>
                <a:cs typeface="Calibri" pitchFamily="34" charset="-120"/>
              </a:rPr>
              <a:t>Critical minerals</a:t>
            </a:r>
            <a:endParaRPr lang="en-US" sz="1400" dirty="0"/>
          </a:p>
        </p:txBody>
      </p:sp>
      <p:sp>
        <p:nvSpPr>
          <p:cNvPr id="7" name="Text 4"/>
          <p:cNvSpPr/>
          <p:nvPr/>
        </p:nvSpPr>
        <p:spPr>
          <a:xfrm>
            <a:off x="654939" y="4480560"/>
            <a:ext cx="2560320" cy="274320"/>
          </a:xfrm>
          <a:prstGeom prst="rect">
            <a:avLst/>
          </a:prstGeom>
          <a:noFill/>
          <a:ln/>
        </p:spPr>
        <p:txBody>
          <a:bodyPr wrap="square" lIns="0" tIns="0" rIns="0" bIns="0" rtlCol="0" anchor="ctr"/>
          <a:lstStyle/>
          <a:p>
            <a:pPr algn="ctr" indent="0" marL="0">
              <a:buNone/>
            </a:pPr>
            <a:r>
              <a:rPr lang="en-US" sz="1100" dirty="0">
                <a:solidFill>
                  <a:srgbClr val="6B7B79"/>
                </a:solidFill>
                <a:latin typeface="Calibri" pitchFamily="34" charset="0"/>
                <a:ea typeface="Calibri" pitchFamily="34" charset="-122"/>
                <a:cs typeface="Calibri" pitchFamily="34" charset="-120"/>
              </a:rPr>
              <a:t>Nickel · Lithium</a:t>
            </a:r>
            <a:endParaRPr lang="en-US" sz="1100" dirty="0"/>
          </a:p>
        </p:txBody>
      </p:sp>
      <p:pic>
        <p:nvPicPr>
          <p:cNvPr id="8" name="Image 1" descr="preencoded.png">    </p:cNvPr>
          <p:cNvPicPr>
            <a:picLocks noChangeAspect="1"/>
          </p:cNvPicPr>
          <p:nvPr/>
        </p:nvPicPr>
        <p:blipFill>
          <a:blip r:embed="rId2"/>
          <a:stretch>
            <a:fillRect/>
          </a:stretch>
        </p:blipFill>
        <p:spPr>
          <a:xfrm>
            <a:off x="3120390" y="3392424"/>
            <a:ext cx="402336" cy="402336"/>
          </a:xfrm>
          <a:prstGeom prst="rect">
            <a:avLst/>
          </a:prstGeom>
        </p:spPr>
      </p:pic>
      <p:sp>
        <p:nvSpPr>
          <p:cNvPr id="9" name="Shape 5"/>
          <p:cNvSpPr/>
          <p:nvPr/>
        </p:nvSpPr>
        <p:spPr>
          <a:xfrm>
            <a:off x="4205097" y="3063240"/>
            <a:ext cx="1005840" cy="1005840"/>
          </a:xfrm>
          <a:prstGeom prst="ellipse">
            <a:avLst/>
          </a:prstGeom>
          <a:solidFill>
            <a:srgbClr val="12736E"/>
          </a:solidFill>
          <a:ln/>
          <a:effectLst>
            <a:outerShdw sx="100000" sy="100000" kx="0" ky="0" algn="bl" rotWithShape="0" blurRad="88900" dist="38100" dir="8100000">
              <a:srgbClr val="000000">
                <a:alpha val="12000"/>
              </a:srgbClr>
            </a:outerShdw>
          </a:effectLst>
        </p:spPr>
      </p:sp>
      <p:pic>
        <p:nvPicPr>
          <p:cNvPr id="10" name="Image 2" descr="preencoded.png">    </p:cNvPr>
          <p:cNvPicPr>
            <a:picLocks noChangeAspect="1"/>
          </p:cNvPicPr>
          <p:nvPr/>
        </p:nvPicPr>
        <p:blipFill>
          <a:blip r:embed="rId3"/>
          <a:stretch>
            <a:fillRect/>
          </a:stretch>
        </p:blipFill>
        <p:spPr>
          <a:xfrm>
            <a:off x="4451985" y="3319272"/>
            <a:ext cx="512064" cy="512064"/>
          </a:xfrm>
          <a:prstGeom prst="rect">
            <a:avLst/>
          </a:prstGeom>
        </p:spPr>
      </p:pic>
      <p:sp>
        <p:nvSpPr>
          <p:cNvPr id="11" name="Text 6"/>
          <p:cNvSpPr/>
          <p:nvPr/>
        </p:nvSpPr>
        <p:spPr>
          <a:xfrm>
            <a:off x="3427857" y="4160520"/>
            <a:ext cx="2560320" cy="320040"/>
          </a:xfrm>
          <a:prstGeom prst="rect">
            <a:avLst/>
          </a:prstGeom>
          <a:noFill/>
          <a:ln/>
        </p:spPr>
        <p:txBody>
          <a:bodyPr wrap="square" lIns="0" tIns="0" rIns="0" bIns="0" rtlCol="0" anchor="ctr"/>
          <a:lstStyle/>
          <a:p>
            <a:pPr algn="ctr" indent="0" marL="0">
              <a:buNone/>
            </a:pPr>
            <a:r>
              <a:rPr lang="en-US" sz="1400" b="1" dirty="0">
                <a:solidFill>
                  <a:srgbClr val="1C2B2A"/>
                </a:solidFill>
                <a:latin typeface="Calibri" pitchFamily="34" charset="0"/>
                <a:ea typeface="Calibri" pitchFamily="34" charset="-122"/>
                <a:cs typeface="Calibri" pitchFamily="34" charset="-120"/>
              </a:rPr>
              <a:t>Battery materials</a:t>
            </a:r>
            <a:endParaRPr lang="en-US" sz="1400" dirty="0"/>
          </a:p>
        </p:txBody>
      </p:sp>
      <p:sp>
        <p:nvSpPr>
          <p:cNvPr id="12" name="Text 7"/>
          <p:cNvSpPr/>
          <p:nvPr/>
        </p:nvSpPr>
        <p:spPr>
          <a:xfrm>
            <a:off x="3427857" y="4480560"/>
            <a:ext cx="2560320" cy="274320"/>
          </a:xfrm>
          <a:prstGeom prst="rect">
            <a:avLst/>
          </a:prstGeom>
          <a:noFill/>
          <a:ln/>
        </p:spPr>
        <p:txBody>
          <a:bodyPr wrap="square" lIns="0" tIns="0" rIns="0" bIns="0" rtlCol="0" anchor="ctr"/>
          <a:lstStyle/>
          <a:p>
            <a:pPr algn="ctr" indent="0" marL="0">
              <a:buNone/>
            </a:pPr>
            <a:r>
              <a:rPr lang="en-US" sz="1100" dirty="0">
                <a:solidFill>
                  <a:srgbClr val="6B7B79"/>
                </a:solidFill>
                <a:latin typeface="Calibri" pitchFamily="34" charset="0"/>
                <a:ea typeface="Calibri" pitchFamily="34" charset="-122"/>
                <a:cs typeface="Calibri" pitchFamily="34" charset="-120"/>
              </a:rPr>
              <a:t>Precursors · Cathodes</a:t>
            </a:r>
            <a:endParaRPr lang="en-US" sz="1100" dirty="0"/>
          </a:p>
        </p:txBody>
      </p:sp>
      <p:pic>
        <p:nvPicPr>
          <p:cNvPr id="13" name="Image 3" descr="preencoded.png">    </p:cNvPr>
          <p:cNvPicPr>
            <a:picLocks noChangeAspect="1"/>
          </p:cNvPicPr>
          <p:nvPr/>
        </p:nvPicPr>
        <p:blipFill>
          <a:blip r:embed="rId4"/>
          <a:stretch>
            <a:fillRect/>
          </a:stretch>
        </p:blipFill>
        <p:spPr>
          <a:xfrm>
            <a:off x="5893308" y="3392424"/>
            <a:ext cx="402336" cy="402336"/>
          </a:xfrm>
          <a:prstGeom prst="rect">
            <a:avLst/>
          </a:prstGeom>
        </p:spPr>
      </p:pic>
      <p:sp>
        <p:nvSpPr>
          <p:cNvPr id="14" name="Shape 8"/>
          <p:cNvSpPr/>
          <p:nvPr/>
        </p:nvSpPr>
        <p:spPr>
          <a:xfrm>
            <a:off x="6978015" y="3063240"/>
            <a:ext cx="1005840" cy="1005840"/>
          </a:xfrm>
          <a:prstGeom prst="ellipse">
            <a:avLst/>
          </a:prstGeom>
          <a:solidFill>
            <a:srgbClr val="12736E"/>
          </a:solidFill>
          <a:ln/>
          <a:effectLst>
            <a:outerShdw sx="100000" sy="100000" kx="0" ky="0" algn="bl" rotWithShape="0" blurRad="88900" dist="38100" dir="8100000">
              <a:srgbClr val="000000">
                <a:alpha val="12000"/>
              </a:srgbClr>
            </a:outerShdw>
          </a:effectLst>
        </p:spPr>
      </p:sp>
      <p:pic>
        <p:nvPicPr>
          <p:cNvPr id="15" name="Image 4" descr="preencoded.png">    </p:cNvPr>
          <p:cNvPicPr>
            <a:picLocks noChangeAspect="1"/>
          </p:cNvPicPr>
          <p:nvPr/>
        </p:nvPicPr>
        <p:blipFill>
          <a:blip r:embed="rId5"/>
          <a:stretch>
            <a:fillRect/>
          </a:stretch>
        </p:blipFill>
        <p:spPr>
          <a:xfrm>
            <a:off x="7224903" y="3319272"/>
            <a:ext cx="512064" cy="512064"/>
          </a:xfrm>
          <a:prstGeom prst="rect">
            <a:avLst/>
          </a:prstGeom>
        </p:spPr>
      </p:pic>
      <p:sp>
        <p:nvSpPr>
          <p:cNvPr id="16" name="Text 9"/>
          <p:cNvSpPr/>
          <p:nvPr/>
        </p:nvSpPr>
        <p:spPr>
          <a:xfrm>
            <a:off x="6200775" y="4160520"/>
            <a:ext cx="2560320" cy="320040"/>
          </a:xfrm>
          <a:prstGeom prst="rect">
            <a:avLst/>
          </a:prstGeom>
          <a:noFill/>
          <a:ln/>
        </p:spPr>
        <p:txBody>
          <a:bodyPr wrap="square" lIns="0" tIns="0" rIns="0" bIns="0" rtlCol="0" anchor="ctr"/>
          <a:lstStyle/>
          <a:p>
            <a:pPr algn="ctr" indent="0" marL="0">
              <a:buNone/>
            </a:pPr>
            <a:r>
              <a:rPr lang="en-US" sz="1400" b="1" dirty="0">
                <a:solidFill>
                  <a:srgbClr val="1C2B2A"/>
                </a:solidFill>
                <a:latin typeface="Calibri" pitchFamily="34" charset="0"/>
                <a:ea typeface="Calibri" pitchFamily="34" charset="-122"/>
                <a:cs typeface="Calibri" pitchFamily="34" charset="-120"/>
              </a:rPr>
              <a:t>Cells &amp; packs</a:t>
            </a:r>
            <a:endParaRPr lang="en-US" sz="1400" dirty="0"/>
          </a:p>
        </p:txBody>
      </p:sp>
      <p:sp>
        <p:nvSpPr>
          <p:cNvPr id="17" name="Text 10"/>
          <p:cNvSpPr/>
          <p:nvPr/>
        </p:nvSpPr>
        <p:spPr>
          <a:xfrm>
            <a:off x="6200775" y="4480560"/>
            <a:ext cx="2560320" cy="274320"/>
          </a:xfrm>
          <a:prstGeom prst="rect">
            <a:avLst/>
          </a:prstGeom>
          <a:noFill/>
          <a:ln/>
        </p:spPr>
        <p:txBody>
          <a:bodyPr wrap="square" lIns="0" tIns="0" rIns="0" bIns="0" rtlCol="0" anchor="ctr"/>
          <a:lstStyle/>
          <a:p>
            <a:pPr algn="ctr" indent="0" marL="0">
              <a:buNone/>
            </a:pPr>
            <a:r>
              <a:rPr lang="en-US" sz="1100" dirty="0">
                <a:solidFill>
                  <a:srgbClr val="6B7B79"/>
                </a:solidFill>
                <a:latin typeface="Calibri" pitchFamily="34" charset="0"/>
                <a:ea typeface="Calibri" pitchFamily="34" charset="-122"/>
                <a:cs typeface="Calibri" pitchFamily="34" charset="-120"/>
              </a:rPr>
              <a:t>Gigafactories</a:t>
            </a:r>
            <a:endParaRPr lang="en-US" sz="1100" dirty="0"/>
          </a:p>
        </p:txBody>
      </p:sp>
      <p:pic>
        <p:nvPicPr>
          <p:cNvPr id="18" name="Image 5" descr="preencoded.png">    </p:cNvPr>
          <p:cNvPicPr>
            <a:picLocks noChangeAspect="1"/>
          </p:cNvPicPr>
          <p:nvPr/>
        </p:nvPicPr>
        <p:blipFill>
          <a:blip r:embed="rId6"/>
          <a:stretch>
            <a:fillRect/>
          </a:stretch>
        </p:blipFill>
        <p:spPr>
          <a:xfrm>
            <a:off x="8666226" y="3392424"/>
            <a:ext cx="402336" cy="402336"/>
          </a:xfrm>
          <a:prstGeom prst="rect">
            <a:avLst/>
          </a:prstGeom>
        </p:spPr>
      </p:pic>
      <p:sp>
        <p:nvSpPr>
          <p:cNvPr id="19" name="Shape 11"/>
          <p:cNvSpPr/>
          <p:nvPr/>
        </p:nvSpPr>
        <p:spPr>
          <a:xfrm>
            <a:off x="9750933" y="3063240"/>
            <a:ext cx="1005840" cy="1005840"/>
          </a:xfrm>
          <a:prstGeom prst="ellipse">
            <a:avLst/>
          </a:prstGeom>
          <a:solidFill>
            <a:srgbClr val="0C3B3A"/>
          </a:solidFill>
          <a:ln/>
          <a:effectLst>
            <a:outerShdw sx="100000" sy="100000" kx="0" ky="0" algn="bl" rotWithShape="0" blurRad="88900" dist="38100" dir="8100000">
              <a:srgbClr val="000000">
                <a:alpha val="12000"/>
              </a:srgbClr>
            </a:outerShdw>
          </a:effectLst>
        </p:spPr>
      </p:sp>
      <p:pic>
        <p:nvPicPr>
          <p:cNvPr id="20" name="Image 6" descr="preencoded.png">    </p:cNvPr>
          <p:cNvPicPr>
            <a:picLocks noChangeAspect="1"/>
          </p:cNvPicPr>
          <p:nvPr/>
        </p:nvPicPr>
        <p:blipFill>
          <a:blip r:embed="rId7"/>
          <a:stretch>
            <a:fillRect/>
          </a:stretch>
        </p:blipFill>
        <p:spPr>
          <a:xfrm>
            <a:off x="9997821" y="3319272"/>
            <a:ext cx="512064" cy="512064"/>
          </a:xfrm>
          <a:prstGeom prst="rect">
            <a:avLst/>
          </a:prstGeom>
        </p:spPr>
      </p:pic>
      <p:sp>
        <p:nvSpPr>
          <p:cNvPr id="21" name="Text 12"/>
          <p:cNvSpPr/>
          <p:nvPr/>
        </p:nvSpPr>
        <p:spPr>
          <a:xfrm>
            <a:off x="8973693" y="4160520"/>
            <a:ext cx="2560320" cy="320040"/>
          </a:xfrm>
          <a:prstGeom prst="rect">
            <a:avLst/>
          </a:prstGeom>
          <a:noFill/>
          <a:ln/>
        </p:spPr>
        <p:txBody>
          <a:bodyPr wrap="square" lIns="0" tIns="0" rIns="0" bIns="0" rtlCol="0" anchor="ctr"/>
          <a:lstStyle/>
          <a:p>
            <a:pPr algn="ctr" indent="0" marL="0">
              <a:buNone/>
            </a:pPr>
            <a:r>
              <a:rPr lang="en-US" sz="1400" b="1" dirty="0">
                <a:solidFill>
                  <a:srgbClr val="1C2B2A"/>
                </a:solidFill>
                <a:latin typeface="Calibri" pitchFamily="34" charset="0"/>
                <a:ea typeface="Calibri" pitchFamily="34" charset="-122"/>
                <a:cs typeface="Calibri" pitchFamily="34" charset="-120"/>
              </a:rPr>
              <a:t>Electric vehicles</a:t>
            </a:r>
            <a:endParaRPr lang="en-US" sz="1400" dirty="0"/>
          </a:p>
        </p:txBody>
      </p:sp>
      <p:sp>
        <p:nvSpPr>
          <p:cNvPr id="22" name="Text 13"/>
          <p:cNvSpPr/>
          <p:nvPr/>
        </p:nvSpPr>
        <p:spPr>
          <a:xfrm>
            <a:off x="8973693" y="4480560"/>
            <a:ext cx="2560320" cy="274320"/>
          </a:xfrm>
          <a:prstGeom prst="rect">
            <a:avLst/>
          </a:prstGeom>
          <a:noFill/>
          <a:ln/>
        </p:spPr>
        <p:txBody>
          <a:bodyPr wrap="square" lIns="0" tIns="0" rIns="0" bIns="0" rtlCol="0" anchor="ctr"/>
          <a:lstStyle/>
          <a:p>
            <a:pPr algn="ctr" indent="0" marL="0">
              <a:buNone/>
            </a:pPr>
            <a:r>
              <a:rPr lang="en-US" sz="1100" dirty="0">
                <a:solidFill>
                  <a:srgbClr val="6B7B79"/>
                </a:solidFill>
                <a:latin typeface="Calibri" pitchFamily="34" charset="0"/>
                <a:ea typeface="Calibri" pitchFamily="34" charset="-122"/>
                <a:cs typeface="Calibri" pitchFamily="34" charset="-120"/>
              </a:rPr>
              <a:t>Assembly · Export</a:t>
            </a:r>
            <a:endParaRPr lang="en-US" sz="1100" dirty="0"/>
          </a:p>
        </p:txBody>
      </p:sp>
      <p:sp>
        <p:nvSpPr>
          <p:cNvPr id="23" name="Shape 14"/>
          <p:cNvSpPr/>
          <p:nvPr/>
        </p:nvSpPr>
        <p:spPr>
          <a:xfrm>
            <a:off x="548640" y="5120640"/>
            <a:ext cx="11091672" cy="1097280"/>
          </a:xfrm>
          <a:prstGeom prst="rect">
            <a:avLst/>
          </a:prstGeom>
          <a:solidFill>
            <a:srgbClr val="0C3B3A"/>
          </a:solidFill>
          <a:ln/>
          <a:effectLst>
            <a:outerShdw sx="100000" sy="100000" kx="0" ky="0" algn="bl" rotWithShape="0" blurRad="88900" dist="38100" dir="8100000">
              <a:srgbClr val="000000">
                <a:alpha val="12000"/>
              </a:srgbClr>
            </a:outerShdw>
          </a:effectLst>
        </p:spPr>
      </p:sp>
      <p:sp>
        <p:nvSpPr>
          <p:cNvPr id="24" name="Text 15"/>
          <p:cNvSpPr/>
          <p:nvPr/>
        </p:nvSpPr>
        <p:spPr>
          <a:xfrm>
            <a:off x="822960" y="5120640"/>
            <a:ext cx="1645920" cy="1097280"/>
          </a:xfrm>
          <a:prstGeom prst="rect">
            <a:avLst/>
          </a:prstGeom>
          <a:noFill/>
          <a:ln/>
        </p:spPr>
        <p:txBody>
          <a:bodyPr wrap="square" lIns="0" tIns="0" rIns="0" bIns="0" rtlCol="0" anchor="ctr"/>
          <a:lstStyle/>
          <a:p>
            <a:pPr algn="ctr" indent="0" marL="0">
              <a:buNone/>
            </a:pPr>
            <a:r>
              <a:rPr lang="en-US" sz="4800" b="1" dirty="0">
                <a:solidFill>
                  <a:srgbClr val="D9B25A"/>
                </a:solidFill>
                <a:latin typeface="Georgia" pitchFamily="34" charset="0"/>
                <a:ea typeface="Georgia" pitchFamily="34" charset="-122"/>
                <a:cs typeface="Georgia" pitchFamily="34" charset="-120"/>
              </a:rPr>
              <a:t>198</a:t>
            </a:r>
            <a:endParaRPr lang="en-US" sz="4800" dirty="0"/>
          </a:p>
        </p:txBody>
      </p:sp>
      <p:sp>
        <p:nvSpPr>
          <p:cNvPr id="25" name="Text 16"/>
          <p:cNvSpPr/>
          <p:nvPr/>
        </p:nvSpPr>
        <p:spPr>
          <a:xfrm>
            <a:off x="2651760" y="5120640"/>
            <a:ext cx="8961120" cy="10972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Chinese overseas new-energy manufacturing projects tracked in this database</a:t>
            </a:r>
            <a:endParaRPr lang="en-US" sz="1600" dirty="0"/>
          </a:p>
          <a:p>
            <a:pPr indent="0" marL="0">
              <a:buNone/>
            </a:pPr>
            <a:r>
              <a:rPr lang="en-US" sz="1250" dirty="0">
                <a:solidFill>
                  <a:srgbClr val="CFE0DE"/>
                </a:solidFill>
                <a:latin typeface="Calibri" pitchFamily="34" charset="0"/>
                <a:ea typeface="Calibri" pitchFamily="34" charset="-122"/>
                <a:cs typeface="Calibri" pitchFamily="34" charset="-120"/>
              </a:rPr>
              <a:t>spanning batteries, materials, solar and vehicles across 40+ countries</a:t>
            </a:r>
            <a:endParaRPr lang="en-US" sz="1600" dirty="0"/>
          </a:p>
        </p:txBody>
      </p:sp>
      <p:sp>
        <p:nvSpPr>
          <p:cNvPr id="26" name="Text 17"/>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A6AFAD"/>
                </a:solidFill>
                <a:latin typeface="Calibri" pitchFamily="34" charset="0"/>
                <a:ea typeface="Calibri" pitchFamily="34" charset="-122"/>
                <a:cs typeface="Calibri" pitchFamily="34" charset="-120"/>
              </a:rPr>
              <a:t>BRI Renewable Energy Database  ·  Chinese New-Energy Manufacturing Abroad</a:t>
            </a:r>
            <a:endParaRPr lang="en-US" sz="900" dirty="0"/>
          </a:p>
        </p:txBody>
      </p:sp>
      <p:sp>
        <p:nvSpPr>
          <p:cNvPr id="27" name="Text 18"/>
          <p:cNvSpPr/>
          <p:nvPr/>
        </p:nvSpPr>
        <p:spPr>
          <a:xfrm>
            <a:off x="11183112" y="6455664"/>
            <a:ext cx="457200" cy="274320"/>
          </a:xfrm>
          <a:prstGeom prst="rect">
            <a:avLst/>
          </a:prstGeom>
          <a:noFill/>
          <a:ln/>
        </p:spPr>
        <p:txBody>
          <a:bodyPr wrap="square" lIns="0" tIns="0" rIns="0" bIns="0" rtlCol="0" anchor="ctr"/>
          <a:lstStyle/>
          <a:p>
            <a:pPr algn="r" indent="0" marL="0">
              <a:buNone/>
            </a:pPr>
            <a:r>
              <a:rPr lang="en-US" sz="900" dirty="0">
                <a:solidFill>
                  <a:srgbClr val="A6AFA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1C2B2A"/>
                </a:solidFill>
                <a:latin typeface="Georgia" pitchFamily="34" charset="0"/>
                <a:ea typeface="Georgia" pitchFamily="34" charset="-122"/>
                <a:cs typeface="Georgia" pitchFamily="34" charset="-120"/>
              </a:rPr>
              <a:t>A wave of factories — and the Global South leads</a:t>
            </a:r>
            <a:endParaRPr lang="en-US" sz="3000" dirty="0"/>
          </a:p>
        </p:txBody>
      </p:sp>
      <p:sp>
        <p:nvSpPr>
          <p:cNvPr id="3" name="Text 1"/>
          <p:cNvSpPr/>
          <p:nvPr/>
        </p:nvSpPr>
        <p:spPr>
          <a:xfrm>
            <a:off x="548640" y="1115568"/>
            <a:ext cx="7315200" cy="365760"/>
          </a:xfrm>
          <a:prstGeom prst="rect">
            <a:avLst/>
          </a:prstGeom>
          <a:noFill/>
          <a:ln/>
        </p:spPr>
        <p:txBody>
          <a:bodyPr wrap="square" lIns="0" tIns="0" rIns="0" bIns="0" rtlCol="0" anchor="ctr"/>
          <a:lstStyle/>
          <a:p>
            <a:pPr indent="0" marL="0">
              <a:buNone/>
            </a:pPr>
            <a:r>
              <a:rPr lang="en-US" sz="1300" i="1" dirty="0">
                <a:solidFill>
                  <a:srgbClr val="6B7B79"/>
                </a:solidFill>
                <a:latin typeface="Calibri" pitchFamily="34" charset="0"/>
                <a:ea typeface="Calibri" pitchFamily="34" charset="-122"/>
                <a:cs typeface="Calibri" pitchFamily="34" charset="-120"/>
              </a:rPr>
              <a:t>Top destinations for Chinese new-energy manufacturing projects (number of projects)</a:t>
            </a:r>
            <a:endParaRPr lang="en-US" sz="1300" dirty="0"/>
          </a:p>
        </p:txBody>
      </p:sp>
      <p:graphicFrame>
        <p:nvGraphicFramePr>
          <p:cNvPr id="4" name="Chart 0" descr=""/>
          <p:cNvGraphicFramePr/>
          <p:nvPr/>
        </p:nvGraphicFramePr>
        <p:xfrm>
          <a:off x="548640" y="1600200"/>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38160" y="1600200"/>
            <a:ext cx="3502152" cy="4480560"/>
          </a:xfrm>
          <a:prstGeom prst="rect">
            <a:avLst/>
          </a:prstGeom>
          <a:solidFill>
            <a:srgbClr val="0C3B3A"/>
          </a:solidFill>
          <a:ln/>
          <a:effectLst>
            <a:outerShdw sx="100000" sy="100000" kx="0" ky="0" algn="bl" rotWithShape="0" blurRad="88900" dist="38100" dir="8100000">
              <a:srgbClr val="000000">
                <a:alpha val="12000"/>
              </a:srgbClr>
            </a:outerShdw>
          </a:effectLst>
        </p:spPr>
      </p:sp>
      <p:pic>
        <p:nvPicPr>
          <p:cNvPr id="6" name="Image 0" descr="preencoded.png">    </p:cNvPr>
          <p:cNvPicPr>
            <a:picLocks noChangeAspect="1"/>
          </p:cNvPicPr>
          <p:nvPr/>
        </p:nvPicPr>
        <p:blipFill>
          <a:blip r:embed="rId2"/>
          <a:stretch>
            <a:fillRect/>
          </a:stretch>
        </p:blipFill>
        <p:spPr>
          <a:xfrm>
            <a:off x="8412480" y="1874520"/>
            <a:ext cx="502920" cy="502920"/>
          </a:xfrm>
          <a:prstGeom prst="rect">
            <a:avLst/>
          </a:prstGeom>
        </p:spPr>
      </p:pic>
      <p:sp>
        <p:nvSpPr>
          <p:cNvPr id="7" name="Text 3"/>
          <p:cNvSpPr/>
          <p:nvPr/>
        </p:nvSpPr>
        <p:spPr>
          <a:xfrm>
            <a:off x="8412480" y="2468880"/>
            <a:ext cx="2953512" cy="36576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Where we zoom in</a:t>
            </a:r>
            <a:endParaRPr lang="en-US" sz="1800" dirty="0"/>
          </a:p>
        </p:txBody>
      </p:sp>
      <p:sp>
        <p:nvSpPr>
          <p:cNvPr id="8" name="Text 4"/>
          <p:cNvSpPr/>
          <p:nvPr/>
        </p:nvSpPr>
        <p:spPr>
          <a:xfrm>
            <a:off x="8412480" y="2926080"/>
            <a:ext cx="2953512" cy="1097280"/>
          </a:xfrm>
          <a:prstGeom prst="rect">
            <a:avLst/>
          </a:prstGeom>
          <a:noFill/>
          <a:ln/>
        </p:spPr>
        <p:txBody>
          <a:bodyPr wrap="square" lIns="0" tIns="0" rIns="0" bIns="0" rtlCol="0" anchor="ctr"/>
          <a:lstStyle/>
          <a:p>
            <a:pPr indent="0" marL="0">
              <a:lnSpc>
                <a:spcPct val="106000"/>
              </a:lnSpc>
              <a:buNone/>
            </a:pPr>
            <a:r>
              <a:rPr lang="en-US" sz="1350" dirty="0">
                <a:solidFill>
                  <a:srgbClr val="CFE0DE"/>
                </a:solidFill>
                <a:latin typeface="Calibri" pitchFamily="34" charset="0"/>
                <a:ea typeface="Calibri" pitchFamily="34" charset="-122"/>
                <a:cs typeface="Calibri" pitchFamily="34" charset="-120"/>
              </a:rPr>
              <a:t>We follow three projects building EV-battery capacity in two of these hubs — Indonesia and Morocco — each financed a different way.</a:t>
            </a:r>
            <a:endParaRPr lang="en-US" sz="1350" dirty="0"/>
          </a:p>
        </p:txBody>
      </p:sp>
      <p:sp>
        <p:nvSpPr>
          <p:cNvPr id="9" name="Shape 5"/>
          <p:cNvSpPr/>
          <p:nvPr/>
        </p:nvSpPr>
        <p:spPr>
          <a:xfrm>
            <a:off x="8412480" y="4160520"/>
            <a:ext cx="164592" cy="164592"/>
          </a:xfrm>
          <a:prstGeom prst="ellipse">
            <a:avLst/>
          </a:prstGeom>
          <a:solidFill>
            <a:srgbClr val="12736E"/>
          </a:solidFill>
          <a:ln/>
        </p:spPr>
      </p:sp>
      <p:sp>
        <p:nvSpPr>
          <p:cNvPr id="10" name="Text 6"/>
          <p:cNvSpPr/>
          <p:nvPr/>
        </p:nvSpPr>
        <p:spPr>
          <a:xfrm>
            <a:off x="8668512" y="4078224"/>
            <a:ext cx="2679192" cy="320040"/>
          </a:xfrm>
          <a:prstGeom prst="rect">
            <a:avLst/>
          </a:prstGeom>
          <a:noFill/>
          <a:ln/>
        </p:spPr>
        <p:txBody>
          <a:bodyPr wrap="square" lIns="0" tIns="0" rIns="0" bIns="0" rtlCol="0" anchor="ctr"/>
          <a:lstStyle/>
          <a:p>
            <a:pPr indent="0" marL="0">
              <a:buNone/>
            </a:pPr>
            <a:r>
              <a:rPr lang="en-US" sz="1250" b="1" dirty="0">
                <a:solidFill>
                  <a:srgbClr val="EAF1F0"/>
                </a:solidFill>
                <a:latin typeface="Calibri" pitchFamily="34" charset="0"/>
                <a:ea typeface="Calibri" pitchFamily="34" charset="-122"/>
                <a:cs typeface="Calibri" pitchFamily="34" charset="-120"/>
              </a:rPr>
              <a:t>Indonesia — #1 destination</a:t>
            </a:r>
            <a:endParaRPr lang="en-US" sz="1250" dirty="0"/>
          </a:p>
        </p:txBody>
      </p:sp>
      <p:sp>
        <p:nvSpPr>
          <p:cNvPr id="11" name="Shape 7"/>
          <p:cNvSpPr/>
          <p:nvPr/>
        </p:nvSpPr>
        <p:spPr>
          <a:xfrm>
            <a:off x="8412480" y="4572000"/>
            <a:ext cx="164592" cy="164592"/>
          </a:xfrm>
          <a:prstGeom prst="ellipse">
            <a:avLst/>
          </a:prstGeom>
          <a:solidFill>
            <a:srgbClr val="BE7C1E"/>
          </a:solidFill>
          <a:ln/>
        </p:spPr>
      </p:sp>
      <p:sp>
        <p:nvSpPr>
          <p:cNvPr id="12" name="Text 8"/>
          <p:cNvSpPr/>
          <p:nvPr/>
        </p:nvSpPr>
        <p:spPr>
          <a:xfrm>
            <a:off x="8668512" y="4489704"/>
            <a:ext cx="2679192" cy="320040"/>
          </a:xfrm>
          <a:prstGeom prst="rect">
            <a:avLst/>
          </a:prstGeom>
          <a:noFill/>
          <a:ln/>
        </p:spPr>
        <p:txBody>
          <a:bodyPr wrap="square" lIns="0" tIns="0" rIns="0" bIns="0" rtlCol="0" anchor="ctr"/>
          <a:lstStyle/>
          <a:p>
            <a:pPr indent="0" marL="0">
              <a:buNone/>
            </a:pPr>
            <a:r>
              <a:rPr lang="en-US" sz="1250" b="1" dirty="0">
                <a:solidFill>
                  <a:srgbClr val="EAF1F0"/>
                </a:solidFill>
                <a:latin typeface="Calibri" pitchFamily="34" charset="0"/>
                <a:ea typeface="Calibri" pitchFamily="34" charset="-122"/>
                <a:cs typeface="Calibri" pitchFamily="34" charset="-120"/>
              </a:rPr>
              <a:t>Morocco — Africa's battery hub</a:t>
            </a:r>
            <a:endParaRPr lang="en-US" sz="1250" dirty="0"/>
          </a:p>
        </p:txBody>
      </p:sp>
      <p:sp>
        <p:nvSpPr>
          <p:cNvPr id="13" name="Text 9"/>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A6AFAD"/>
                </a:solidFill>
                <a:latin typeface="Calibri" pitchFamily="34" charset="0"/>
                <a:ea typeface="Calibri" pitchFamily="34" charset="-122"/>
                <a:cs typeface="Calibri" pitchFamily="34" charset="-120"/>
              </a:rPr>
              <a:t>BRI Renewable Energy Database  ·  Chinese New-Energy Manufacturing Abroad</a:t>
            </a:r>
            <a:endParaRPr lang="en-US" sz="900" dirty="0"/>
          </a:p>
        </p:txBody>
      </p:sp>
      <p:sp>
        <p:nvSpPr>
          <p:cNvPr id="14" name="Text 10"/>
          <p:cNvSpPr/>
          <p:nvPr/>
        </p:nvSpPr>
        <p:spPr>
          <a:xfrm>
            <a:off x="11183112" y="6455664"/>
            <a:ext cx="457200" cy="274320"/>
          </a:xfrm>
          <a:prstGeom prst="rect">
            <a:avLst/>
          </a:prstGeom>
          <a:noFill/>
          <a:ln/>
        </p:spPr>
        <p:txBody>
          <a:bodyPr wrap="square" lIns="0" tIns="0" rIns="0" bIns="0" rtlCol="0" anchor="ctr"/>
          <a:lstStyle/>
          <a:p>
            <a:pPr algn="r" indent="0" marL="0">
              <a:buNone/>
            </a:pPr>
            <a:r>
              <a:rPr lang="en-US" sz="900" dirty="0">
                <a:solidFill>
                  <a:srgbClr val="A6AFA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1C2B2A"/>
                </a:solidFill>
                <a:latin typeface="Georgia" pitchFamily="34" charset="0"/>
                <a:ea typeface="Georgia" pitchFamily="34" charset="-122"/>
                <a:cs typeface="Georgia" pitchFamily="34" charset="-120"/>
              </a:rPr>
              <a:t>Three ways to finance a battery plant</a:t>
            </a:r>
            <a:endParaRPr lang="en-US" sz="3000" dirty="0"/>
          </a:p>
        </p:txBody>
      </p:sp>
      <p:sp>
        <p:nvSpPr>
          <p:cNvPr id="3" name="Text 1"/>
          <p:cNvSpPr/>
          <p:nvPr/>
        </p:nvSpPr>
        <p:spPr>
          <a:xfrm>
            <a:off x="548640" y="1115568"/>
            <a:ext cx="10972800" cy="365760"/>
          </a:xfrm>
          <a:prstGeom prst="rect">
            <a:avLst/>
          </a:prstGeom>
          <a:noFill/>
          <a:ln/>
        </p:spPr>
        <p:txBody>
          <a:bodyPr wrap="square" lIns="0" tIns="0" rIns="0" bIns="0" rtlCol="0" anchor="ctr"/>
          <a:lstStyle/>
          <a:p>
            <a:pPr indent="0" marL="0">
              <a:buNone/>
            </a:pPr>
            <a:r>
              <a:rPr lang="en-US" sz="1400" i="1" dirty="0">
                <a:solidFill>
                  <a:srgbClr val="6B7B79"/>
                </a:solidFill>
                <a:latin typeface="Calibri" pitchFamily="34" charset="0"/>
                <a:ea typeface="Calibri" pitchFamily="34" charset="-122"/>
                <a:cs typeface="Calibri" pitchFamily="34" charset="-120"/>
              </a:rPr>
              <a:t>The same goal — local battery capacity — reached through very different capital structures.</a:t>
            </a:r>
            <a:endParaRPr lang="en-US" sz="1400" dirty="0"/>
          </a:p>
        </p:txBody>
      </p:sp>
      <p:sp>
        <p:nvSpPr>
          <p:cNvPr id="4" name="Shape 2"/>
          <p:cNvSpPr/>
          <p:nvPr/>
        </p:nvSpPr>
        <p:spPr>
          <a:xfrm>
            <a:off x="548640" y="1783080"/>
            <a:ext cx="3453384" cy="4160520"/>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5" name="Shape 3"/>
          <p:cNvSpPr/>
          <p:nvPr/>
        </p:nvSpPr>
        <p:spPr>
          <a:xfrm>
            <a:off x="548640" y="1783080"/>
            <a:ext cx="3453384" cy="128016"/>
          </a:xfrm>
          <a:prstGeom prst="rect">
            <a:avLst/>
          </a:prstGeom>
          <a:solidFill>
            <a:srgbClr val="12736E"/>
          </a:solidFill>
          <a:ln/>
        </p:spPr>
      </p:sp>
      <p:sp>
        <p:nvSpPr>
          <p:cNvPr id="6" name="Shape 4"/>
          <p:cNvSpPr/>
          <p:nvPr/>
        </p:nvSpPr>
        <p:spPr>
          <a:xfrm>
            <a:off x="914400" y="2194560"/>
            <a:ext cx="914400" cy="914400"/>
          </a:xfrm>
          <a:prstGeom prst="ellipse">
            <a:avLst/>
          </a:prstGeom>
          <a:solidFill>
            <a:srgbClr val="12736E"/>
          </a:solidFill>
          <a:ln/>
        </p:spPr>
      </p:sp>
      <p:pic>
        <p:nvPicPr>
          <p:cNvPr id="7" name="Image 0" descr="preencoded.png">    </p:cNvPr>
          <p:cNvPicPr>
            <a:picLocks noChangeAspect="1"/>
          </p:cNvPicPr>
          <p:nvPr/>
        </p:nvPicPr>
        <p:blipFill>
          <a:blip r:embed="rId1"/>
          <a:stretch>
            <a:fillRect/>
          </a:stretch>
        </p:blipFill>
        <p:spPr>
          <a:xfrm>
            <a:off x="1152144" y="2432304"/>
            <a:ext cx="438912" cy="438912"/>
          </a:xfrm>
          <a:prstGeom prst="rect">
            <a:avLst/>
          </a:prstGeom>
        </p:spPr>
      </p:pic>
      <p:sp>
        <p:nvSpPr>
          <p:cNvPr id="8" name="Text 5"/>
          <p:cNvSpPr/>
          <p:nvPr/>
        </p:nvSpPr>
        <p:spPr>
          <a:xfrm>
            <a:off x="2813304" y="2148840"/>
            <a:ext cx="914400" cy="731520"/>
          </a:xfrm>
          <a:prstGeom prst="rect">
            <a:avLst/>
          </a:prstGeom>
          <a:noFill/>
          <a:ln/>
        </p:spPr>
        <p:txBody>
          <a:bodyPr wrap="square" lIns="0" tIns="0" rIns="0" bIns="0" rtlCol="0" anchor="ctr"/>
          <a:lstStyle/>
          <a:p>
            <a:pPr algn="r" indent="0" marL="0">
              <a:buNone/>
            </a:pPr>
            <a:r>
              <a:rPr lang="en-US" sz="4000" b="1" dirty="0">
                <a:solidFill>
                  <a:srgbClr val="E6EFEE"/>
                </a:solidFill>
                <a:latin typeface="Georgia" pitchFamily="34" charset="0"/>
                <a:ea typeface="Georgia" pitchFamily="34" charset="-122"/>
                <a:cs typeface="Georgia" pitchFamily="34" charset="-120"/>
              </a:rPr>
              <a:t>01</a:t>
            </a:r>
            <a:endParaRPr lang="en-US" sz="4000" dirty="0"/>
          </a:p>
        </p:txBody>
      </p:sp>
      <p:sp>
        <p:nvSpPr>
          <p:cNvPr id="9" name="Text 6"/>
          <p:cNvSpPr/>
          <p:nvPr/>
        </p:nvSpPr>
        <p:spPr>
          <a:xfrm>
            <a:off x="914400" y="3337560"/>
            <a:ext cx="2721864" cy="731520"/>
          </a:xfrm>
          <a:prstGeom prst="rect">
            <a:avLst/>
          </a:prstGeom>
          <a:noFill/>
          <a:ln/>
        </p:spPr>
        <p:txBody>
          <a:bodyPr wrap="square" lIns="0" tIns="0" rIns="0" bIns="0" rtlCol="0" anchor="ctr"/>
          <a:lstStyle/>
          <a:p>
            <a:pPr indent="0" marL="0">
              <a:buNone/>
            </a:pPr>
            <a:r>
              <a:rPr lang="en-US" sz="1900" b="1" dirty="0">
                <a:solidFill>
                  <a:srgbClr val="1C2B2A"/>
                </a:solidFill>
                <a:latin typeface="Georgia" pitchFamily="34" charset="0"/>
                <a:ea typeface="Georgia" pitchFamily="34" charset="-122"/>
                <a:cs typeface="Georgia" pitchFamily="34" charset="-120"/>
              </a:rPr>
              <a:t>Equity Joint Venture</a:t>
            </a:r>
            <a:endParaRPr lang="en-US" sz="1900" dirty="0"/>
          </a:p>
        </p:txBody>
      </p:sp>
      <p:sp>
        <p:nvSpPr>
          <p:cNvPr id="10" name="Text 7"/>
          <p:cNvSpPr/>
          <p:nvPr/>
        </p:nvSpPr>
        <p:spPr>
          <a:xfrm>
            <a:off x="914400" y="4069080"/>
            <a:ext cx="2721864" cy="1188720"/>
          </a:xfrm>
          <a:prstGeom prst="rect">
            <a:avLst/>
          </a:prstGeom>
          <a:noFill/>
          <a:ln/>
        </p:spPr>
        <p:txBody>
          <a:bodyPr wrap="square" lIns="0" tIns="0" rIns="0" bIns="0" rtlCol="0" anchor="ctr"/>
          <a:lstStyle/>
          <a:p>
            <a:pPr indent="0" marL="0">
              <a:lnSpc>
                <a:spcPct val="106000"/>
              </a:lnSpc>
              <a:buNone/>
            </a:pPr>
            <a:r>
              <a:rPr lang="en-US" sz="1350" dirty="0">
                <a:solidFill>
                  <a:srgbClr val="1C2B2A"/>
                </a:solidFill>
                <a:latin typeface="Calibri" pitchFamily="34" charset="0"/>
                <a:ea typeface="Calibri" pitchFamily="34" charset="-122"/>
                <a:cs typeface="Calibri" pitchFamily="34" charset="-120"/>
              </a:rPr>
              <a:t>Chinese firm and host-country state companies co-own the project, often anchored on local minerals.</a:t>
            </a:r>
            <a:endParaRPr lang="en-US" sz="1350" dirty="0"/>
          </a:p>
        </p:txBody>
      </p:sp>
      <p:sp>
        <p:nvSpPr>
          <p:cNvPr id="11" name="Shape 8"/>
          <p:cNvSpPr/>
          <p:nvPr/>
        </p:nvSpPr>
        <p:spPr>
          <a:xfrm>
            <a:off x="914400" y="5285232"/>
            <a:ext cx="2721864" cy="411480"/>
          </a:xfrm>
          <a:prstGeom prst="rect">
            <a:avLst/>
          </a:prstGeom>
          <a:solidFill>
            <a:srgbClr val="E6EFEE"/>
          </a:solidFill>
          <a:ln/>
        </p:spPr>
      </p:sp>
      <p:sp>
        <p:nvSpPr>
          <p:cNvPr id="12" name="Text 9"/>
          <p:cNvSpPr/>
          <p:nvPr/>
        </p:nvSpPr>
        <p:spPr>
          <a:xfrm>
            <a:off x="914400" y="5285232"/>
            <a:ext cx="2721864" cy="411480"/>
          </a:xfrm>
          <a:prstGeom prst="rect">
            <a:avLst/>
          </a:prstGeom>
          <a:noFill/>
          <a:ln/>
        </p:spPr>
        <p:txBody>
          <a:bodyPr wrap="square" lIns="0" tIns="0" rIns="0" bIns="0" rtlCol="0" anchor="ctr"/>
          <a:lstStyle/>
          <a:p>
            <a:pPr algn="ctr" indent="0" marL="0">
              <a:buNone/>
            </a:pPr>
            <a:r>
              <a:rPr lang="en-US" sz="1300" b="1" dirty="0">
                <a:solidFill>
                  <a:srgbClr val="12736E"/>
                </a:solidFill>
                <a:latin typeface="Calibri" pitchFamily="34" charset="0"/>
                <a:ea typeface="Calibri" pitchFamily="34" charset="-122"/>
                <a:cs typeface="Calibri" pitchFamily="34" charset="-120"/>
              </a:rPr>
              <a:t>Indonesia · CATL</a:t>
            </a:r>
            <a:endParaRPr lang="en-US" sz="1300" dirty="0"/>
          </a:p>
        </p:txBody>
      </p:sp>
      <p:sp>
        <p:nvSpPr>
          <p:cNvPr id="13" name="Shape 10"/>
          <p:cNvSpPr/>
          <p:nvPr/>
        </p:nvSpPr>
        <p:spPr>
          <a:xfrm>
            <a:off x="4367784" y="1783080"/>
            <a:ext cx="3453384" cy="4160520"/>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14" name="Shape 11"/>
          <p:cNvSpPr/>
          <p:nvPr/>
        </p:nvSpPr>
        <p:spPr>
          <a:xfrm>
            <a:off x="4367784" y="1783080"/>
            <a:ext cx="3453384" cy="128016"/>
          </a:xfrm>
          <a:prstGeom prst="rect">
            <a:avLst/>
          </a:prstGeom>
          <a:solidFill>
            <a:srgbClr val="BE7C1E"/>
          </a:solidFill>
          <a:ln/>
        </p:spPr>
      </p:sp>
      <p:sp>
        <p:nvSpPr>
          <p:cNvPr id="15" name="Shape 12"/>
          <p:cNvSpPr/>
          <p:nvPr/>
        </p:nvSpPr>
        <p:spPr>
          <a:xfrm>
            <a:off x="4733544" y="2194560"/>
            <a:ext cx="914400" cy="914400"/>
          </a:xfrm>
          <a:prstGeom prst="ellipse">
            <a:avLst/>
          </a:prstGeom>
          <a:solidFill>
            <a:srgbClr val="BE7C1E"/>
          </a:solidFill>
          <a:ln/>
        </p:spPr>
      </p:sp>
      <p:pic>
        <p:nvPicPr>
          <p:cNvPr id="16" name="Image 1" descr="preencoded.png">    </p:cNvPr>
          <p:cNvPicPr>
            <a:picLocks noChangeAspect="1"/>
          </p:cNvPicPr>
          <p:nvPr/>
        </p:nvPicPr>
        <p:blipFill>
          <a:blip r:embed="rId2"/>
          <a:stretch>
            <a:fillRect/>
          </a:stretch>
        </p:blipFill>
        <p:spPr>
          <a:xfrm>
            <a:off x="4971288" y="2432304"/>
            <a:ext cx="438912" cy="438912"/>
          </a:xfrm>
          <a:prstGeom prst="rect">
            <a:avLst/>
          </a:prstGeom>
        </p:spPr>
      </p:pic>
      <p:sp>
        <p:nvSpPr>
          <p:cNvPr id="17" name="Text 13"/>
          <p:cNvSpPr/>
          <p:nvPr/>
        </p:nvSpPr>
        <p:spPr>
          <a:xfrm>
            <a:off x="6632448" y="2148840"/>
            <a:ext cx="914400" cy="731520"/>
          </a:xfrm>
          <a:prstGeom prst="rect">
            <a:avLst/>
          </a:prstGeom>
          <a:noFill/>
          <a:ln/>
        </p:spPr>
        <p:txBody>
          <a:bodyPr wrap="square" lIns="0" tIns="0" rIns="0" bIns="0" rtlCol="0" anchor="ctr"/>
          <a:lstStyle/>
          <a:p>
            <a:pPr algn="r" indent="0" marL="0">
              <a:buNone/>
            </a:pPr>
            <a:r>
              <a:rPr lang="en-US" sz="4000" b="1" dirty="0">
                <a:solidFill>
                  <a:srgbClr val="F6EEDD"/>
                </a:solidFill>
                <a:latin typeface="Georgia" pitchFamily="34" charset="0"/>
                <a:ea typeface="Georgia" pitchFamily="34" charset="-122"/>
                <a:cs typeface="Georgia" pitchFamily="34" charset="-120"/>
              </a:rPr>
              <a:t>02</a:t>
            </a:r>
            <a:endParaRPr lang="en-US" sz="4000" dirty="0"/>
          </a:p>
        </p:txBody>
      </p:sp>
      <p:sp>
        <p:nvSpPr>
          <p:cNvPr id="18" name="Text 14"/>
          <p:cNvSpPr/>
          <p:nvPr/>
        </p:nvSpPr>
        <p:spPr>
          <a:xfrm>
            <a:off x="4733544" y="3337560"/>
            <a:ext cx="2721864" cy="731520"/>
          </a:xfrm>
          <a:prstGeom prst="rect">
            <a:avLst/>
          </a:prstGeom>
          <a:noFill/>
          <a:ln/>
        </p:spPr>
        <p:txBody>
          <a:bodyPr wrap="square" lIns="0" tIns="0" rIns="0" bIns="0" rtlCol="0" anchor="ctr"/>
          <a:lstStyle/>
          <a:p>
            <a:pPr indent="0" marL="0">
              <a:buNone/>
            </a:pPr>
            <a:r>
              <a:rPr lang="en-US" sz="1900" b="1" dirty="0">
                <a:solidFill>
                  <a:srgbClr val="1C2B2A"/>
                </a:solidFill>
                <a:latin typeface="Georgia" pitchFamily="34" charset="0"/>
                <a:ea typeface="Georgia" pitchFamily="34" charset="-122"/>
                <a:cs typeface="Georgia" pitchFamily="34" charset="-120"/>
              </a:rPr>
              <a:t>Blended Equity + Incentives</a:t>
            </a:r>
            <a:endParaRPr lang="en-US" sz="1900" dirty="0"/>
          </a:p>
        </p:txBody>
      </p:sp>
      <p:sp>
        <p:nvSpPr>
          <p:cNvPr id="19" name="Text 15"/>
          <p:cNvSpPr/>
          <p:nvPr/>
        </p:nvSpPr>
        <p:spPr>
          <a:xfrm>
            <a:off x="4733544" y="4069080"/>
            <a:ext cx="2721864" cy="1188720"/>
          </a:xfrm>
          <a:prstGeom prst="rect">
            <a:avLst/>
          </a:prstGeom>
          <a:noFill/>
          <a:ln/>
        </p:spPr>
        <p:txBody>
          <a:bodyPr wrap="square" lIns="0" tIns="0" rIns="0" bIns="0" rtlCol="0" anchor="ctr"/>
          <a:lstStyle/>
          <a:p>
            <a:pPr indent="0" marL="0">
              <a:lnSpc>
                <a:spcPct val="106000"/>
              </a:lnSpc>
              <a:buNone/>
            </a:pPr>
            <a:r>
              <a:rPr lang="en-US" sz="1350" dirty="0">
                <a:solidFill>
                  <a:srgbClr val="1C2B2A"/>
                </a:solidFill>
                <a:latin typeface="Calibri" pitchFamily="34" charset="0"/>
                <a:ea typeface="Calibri" pitchFamily="34" charset="-122"/>
                <a:cs typeface="Calibri" pitchFamily="34" charset="-120"/>
              </a:rPr>
              <a:t>Sponsor equity plus a stake from the host country's sovereign fund, sweetened by state incentives.</a:t>
            </a:r>
            <a:endParaRPr lang="en-US" sz="1350" dirty="0"/>
          </a:p>
        </p:txBody>
      </p:sp>
      <p:sp>
        <p:nvSpPr>
          <p:cNvPr id="20" name="Shape 16"/>
          <p:cNvSpPr/>
          <p:nvPr/>
        </p:nvSpPr>
        <p:spPr>
          <a:xfrm>
            <a:off x="4733544" y="5285232"/>
            <a:ext cx="2721864" cy="411480"/>
          </a:xfrm>
          <a:prstGeom prst="rect">
            <a:avLst/>
          </a:prstGeom>
          <a:solidFill>
            <a:srgbClr val="F6EEDD"/>
          </a:solidFill>
          <a:ln/>
        </p:spPr>
      </p:sp>
      <p:sp>
        <p:nvSpPr>
          <p:cNvPr id="21" name="Text 17"/>
          <p:cNvSpPr/>
          <p:nvPr/>
        </p:nvSpPr>
        <p:spPr>
          <a:xfrm>
            <a:off x="4733544" y="5285232"/>
            <a:ext cx="2721864" cy="411480"/>
          </a:xfrm>
          <a:prstGeom prst="rect">
            <a:avLst/>
          </a:prstGeom>
          <a:noFill/>
          <a:ln/>
        </p:spPr>
        <p:txBody>
          <a:bodyPr wrap="square" lIns="0" tIns="0" rIns="0" bIns="0" rtlCol="0" anchor="ctr"/>
          <a:lstStyle/>
          <a:p>
            <a:pPr algn="ctr" indent="0" marL="0">
              <a:buNone/>
            </a:pPr>
            <a:r>
              <a:rPr lang="en-US" sz="1300" b="1" dirty="0">
                <a:solidFill>
                  <a:srgbClr val="BE7C1E"/>
                </a:solidFill>
                <a:latin typeface="Calibri" pitchFamily="34" charset="0"/>
                <a:ea typeface="Calibri" pitchFamily="34" charset="-122"/>
                <a:cs typeface="Calibri" pitchFamily="34" charset="-120"/>
              </a:rPr>
              <a:t>Morocco · Gotion</a:t>
            </a:r>
            <a:endParaRPr lang="en-US" sz="1300" dirty="0"/>
          </a:p>
        </p:txBody>
      </p:sp>
      <p:sp>
        <p:nvSpPr>
          <p:cNvPr id="22" name="Shape 18"/>
          <p:cNvSpPr/>
          <p:nvPr/>
        </p:nvSpPr>
        <p:spPr>
          <a:xfrm>
            <a:off x="8186928" y="1783080"/>
            <a:ext cx="3453384" cy="4160520"/>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23" name="Shape 19"/>
          <p:cNvSpPr/>
          <p:nvPr/>
        </p:nvSpPr>
        <p:spPr>
          <a:xfrm>
            <a:off x="8186928" y="1783080"/>
            <a:ext cx="3453384" cy="128016"/>
          </a:xfrm>
          <a:prstGeom prst="rect">
            <a:avLst/>
          </a:prstGeom>
          <a:solidFill>
            <a:srgbClr val="2F6690"/>
          </a:solidFill>
          <a:ln/>
        </p:spPr>
      </p:sp>
      <p:sp>
        <p:nvSpPr>
          <p:cNvPr id="24" name="Shape 20"/>
          <p:cNvSpPr/>
          <p:nvPr/>
        </p:nvSpPr>
        <p:spPr>
          <a:xfrm>
            <a:off x="8552688" y="2194560"/>
            <a:ext cx="914400" cy="914400"/>
          </a:xfrm>
          <a:prstGeom prst="ellipse">
            <a:avLst/>
          </a:prstGeom>
          <a:solidFill>
            <a:srgbClr val="2F6690"/>
          </a:solidFill>
          <a:ln/>
        </p:spPr>
      </p:sp>
      <p:pic>
        <p:nvPicPr>
          <p:cNvPr id="25" name="Image 2" descr="preencoded.png">    </p:cNvPr>
          <p:cNvPicPr>
            <a:picLocks noChangeAspect="1"/>
          </p:cNvPicPr>
          <p:nvPr/>
        </p:nvPicPr>
        <p:blipFill>
          <a:blip r:embed="rId3"/>
          <a:stretch>
            <a:fillRect/>
          </a:stretch>
        </p:blipFill>
        <p:spPr>
          <a:xfrm>
            <a:off x="8790432" y="2432304"/>
            <a:ext cx="438912" cy="438912"/>
          </a:xfrm>
          <a:prstGeom prst="rect">
            <a:avLst/>
          </a:prstGeom>
        </p:spPr>
      </p:pic>
      <p:sp>
        <p:nvSpPr>
          <p:cNvPr id="26" name="Text 21"/>
          <p:cNvSpPr/>
          <p:nvPr/>
        </p:nvSpPr>
        <p:spPr>
          <a:xfrm>
            <a:off x="10451592" y="2148840"/>
            <a:ext cx="914400" cy="731520"/>
          </a:xfrm>
          <a:prstGeom prst="rect">
            <a:avLst/>
          </a:prstGeom>
          <a:noFill/>
          <a:ln/>
        </p:spPr>
        <p:txBody>
          <a:bodyPr wrap="square" lIns="0" tIns="0" rIns="0" bIns="0" rtlCol="0" anchor="ctr"/>
          <a:lstStyle/>
          <a:p>
            <a:pPr algn="r" indent="0" marL="0">
              <a:buNone/>
            </a:pPr>
            <a:r>
              <a:rPr lang="en-US" sz="4000" b="1" dirty="0">
                <a:solidFill>
                  <a:srgbClr val="E7EDF2"/>
                </a:solidFill>
                <a:latin typeface="Georgia" pitchFamily="34" charset="0"/>
                <a:ea typeface="Georgia" pitchFamily="34" charset="-122"/>
                <a:cs typeface="Georgia" pitchFamily="34" charset="-120"/>
              </a:rPr>
              <a:t>03</a:t>
            </a:r>
            <a:endParaRPr lang="en-US" sz="4000" dirty="0"/>
          </a:p>
        </p:txBody>
      </p:sp>
      <p:sp>
        <p:nvSpPr>
          <p:cNvPr id="27" name="Text 22"/>
          <p:cNvSpPr/>
          <p:nvPr/>
        </p:nvSpPr>
        <p:spPr>
          <a:xfrm>
            <a:off x="8552688" y="3337560"/>
            <a:ext cx="2721864" cy="731520"/>
          </a:xfrm>
          <a:prstGeom prst="rect">
            <a:avLst/>
          </a:prstGeom>
          <a:noFill/>
          <a:ln/>
        </p:spPr>
        <p:txBody>
          <a:bodyPr wrap="square" lIns="0" tIns="0" rIns="0" bIns="0" rtlCol="0" anchor="ctr"/>
          <a:lstStyle/>
          <a:p>
            <a:pPr indent="0" marL="0">
              <a:buNone/>
            </a:pPr>
            <a:r>
              <a:rPr lang="en-US" sz="1900" b="1" dirty="0">
                <a:solidFill>
                  <a:srgbClr val="1C2B2A"/>
                </a:solidFill>
                <a:latin typeface="Georgia" pitchFamily="34" charset="0"/>
                <a:ea typeface="Georgia" pitchFamily="34" charset="-122"/>
                <a:cs typeface="Georgia" pitchFamily="34" charset="-120"/>
              </a:rPr>
              <a:t>Green Syndicated Debt</a:t>
            </a:r>
            <a:endParaRPr lang="en-US" sz="1900" dirty="0"/>
          </a:p>
        </p:txBody>
      </p:sp>
      <p:sp>
        <p:nvSpPr>
          <p:cNvPr id="28" name="Text 23"/>
          <p:cNvSpPr/>
          <p:nvPr/>
        </p:nvSpPr>
        <p:spPr>
          <a:xfrm>
            <a:off x="8552688" y="4069080"/>
            <a:ext cx="2721864" cy="1188720"/>
          </a:xfrm>
          <a:prstGeom prst="rect">
            <a:avLst/>
          </a:prstGeom>
          <a:noFill/>
          <a:ln/>
        </p:spPr>
        <p:txBody>
          <a:bodyPr wrap="square" lIns="0" tIns="0" rIns="0" bIns="0" rtlCol="0" anchor="ctr"/>
          <a:lstStyle/>
          <a:p>
            <a:pPr indent="0" marL="0">
              <a:lnSpc>
                <a:spcPct val="106000"/>
              </a:lnSpc>
              <a:buNone/>
            </a:pPr>
            <a:r>
              <a:rPr lang="en-US" sz="1350" dirty="0">
                <a:solidFill>
                  <a:srgbClr val="1C2B2A"/>
                </a:solidFill>
                <a:latin typeface="Calibri" pitchFamily="34" charset="0"/>
                <a:ea typeface="Calibri" pitchFamily="34" charset="-122"/>
                <a:cs typeface="Calibri" pitchFamily="34" charset="-120"/>
              </a:rPr>
              <a:t>International banks lend together on a green loan, de-risked by China's export-credit insurer.</a:t>
            </a:r>
            <a:endParaRPr lang="en-US" sz="1350" dirty="0"/>
          </a:p>
        </p:txBody>
      </p:sp>
      <p:sp>
        <p:nvSpPr>
          <p:cNvPr id="29" name="Shape 24"/>
          <p:cNvSpPr/>
          <p:nvPr/>
        </p:nvSpPr>
        <p:spPr>
          <a:xfrm>
            <a:off x="8552688" y="5285232"/>
            <a:ext cx="2721864" cy="411480"/>
          </a:xfrm>
          <a:prstGeom prst="rect">
            <a:avLst/>
          </a:prstGeom>
          <a:solidFill>
            <a:srgbClr val="E7EDF2"/>
          </a:solidFill>
          <a:ln/>
        </p:spPr>
      </p:sp>
      <p:sp>
        <p:nvSpPr>
          <p:cNvPr id="30" name="Text 25"/>
          <p:cNvSpPr/>
          <p:nvPr/>
        </p:nvSpPr>
        <p:spPr>
          <a:xfrm>
            <a:off x="8552688" y="5285232"/>
            <a:ext cx="2721864" cy="411480"/>
          </a:xfrm>
          <a:prstGeom prst="rect">
            <a:avLst/>
          </a:prstGeom>
          <a:noFill/>
          <a:ln/>
        </p:spPr>
        <p:txBody>
          <a:bodyPr wrap="square" lIns="0" tIns="0" rIns="0" bIns="0" rtlCol="0" anchor="ctr"/>
          <a:lstStyle/>
          <a:p>
            <a:pPr algn="ctr" indent="0" marL="0">
              <a:buNone/>
            </a:pPr>
            <a:r>
              <a:rPr lang="en-US" sz="1300" b="1" dirty="0">
                <a:solidFill>
                  <a:srgbClr val="2F6690"/>
                </a:solidFill>
                <a:latin typeface="Calibri" pitchFamily="34" charset="0"/>
                <a:ea typeface="Calibri" pitchFamily="34" charset="-122"/>
                <a:cs typeface="Calibri" pitchFamily="34" charset="-120"/>
              </a:rPr>
              <a:t>Morocco · COBCO</a:t>
            </a:r>
            <a:endParaRPr lang="en-US" sz="1300" dirty="0"/>
          </a:p>
        </p:txBody>
      </p:sp>
      <p:sp>
        <p:nvSpPr>
          <p:cNvPr id="31" name="Text 26"/>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A6AFAD"/>
                </a:solidFill>
                <a:latin typeface="Calibri" pitchFamily="34" charset="0"/>
                <a:ea typeface="Calibri" pitchFamily="34" charset="-122"/>
                <a:cs typeface="Calibri" pitchFamily="34" charset="-120"/>
              </a:rPr>
              <a:t>BRI Renewable Energy Database  ·  Chinese New-Energy Manufacturing Abroad</a:t>
            </a:r>
            <a:endParaRPr lang="en-US" sz="900" dirty="0"/>
          </a:p>
        </p:txBody>
      </p:sp>
      <p:sp>
        <p:nvSpPr>
          <p:cNvPr id="32" name="Text 27"/>
          <p:cNvSpPr/>
          <p:nvPr/>
        </p:nvSpPr>
        <p:spPr>
          <a:xfrm>
            <a:off x="11183112" y="6455664"/>
            <a:ext cx="457200" cy="274320"/>
          </a:xfrm>
          <a:prstGeom prst="rect">
            <a:avLst/>
          </a:prstGeom>
          <a:noFill/>
          <a:ln/>
        </p:spPr>
        <p:txBody>
          <a:bodyPr wrap="square" lIns="0" tIns="0" rIns="0" bIns="0" rtlCol="0" anchor="ctr"/>
          <a:lstStyle/>
          <a:p>
            <a:pPr algn="r" indent="0" marL="0">
              <a:buNone/>
            </a:pPr>
            <a:r>
              <a:rPr lang="en-US" sz="900" dirty="0">
                <a:solidFill>
                  <a:srgbClr val="A6AFA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548640" y="457200"/>
            <a:ext cx="713232" cy="713232"/>
          </a:xfrm>
          <a:prstGeom prst="ellipse">
            <a:avLst/>
          </a:prstGeom>
          <a:solidFill>
            <a:srgbClr val="12736E"/>
          </a:solidFill>
          <a:ln/>
          <a:effectLst>
            <a:outerShdw sx="100000" sy="100000" kx="0" ky="0" algn="bl" rotWithShape="0" blurRad="88900" dist="381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40664" y="649224"/>
            <a:ext cx="329184" cy="329184"/>
          </a:xfrm>
          <a:prstGeom prst="rect">
            <a:avLst/>
          </a:prstGeom>
        </p:spPr>
      </p:pic>
      <p:sp>
        <p:nvSpPr>
          <p:cNvPr id="4" name="Text 1"/>
          <p:cNvSpPr/>
          <p:nvPr/>
        </p:nvSpPr>
        <p:spPr>
          <a:xfrm>
            <a:off x="1463040" y="457200"/>
            <a:ext cx="10058400" cy="274320"/>
          </a:xfrm>
          <a:prstGeom prst="rect">
            <a:avLst/>
          </a:prstGeom>
          <a:noFill/>
          <a:ln/>
        </p:spPr>
        <p:txBody>
          <a:bodyPr wrap="square" lIns="0" tIns="0" rIns="0" bIns="0" rtlCol="0" anchor="ctr"/>
          <a:lstStyle/>
          <a:p>
            <a:pPr indent="0" marL="0">
              <a:buNone/>
            </a:pPr>
            <a:r>
              <a:rPr lang="en-US" sz="1200" b="1" spc="200" kern="0" dirty="0">
                <a:solidFill>
                  <a:srgbClr val="12736E"/>
                </a:solidFill>
                <a:latin typeface="Calibri" pitchFamily="34" charset="0"/>
                <a:ea typeface="Calibri" pitchFamily="34" charset="-122"/>
                <a:cs typeface="Calibri" pitchFamily="34" charset="-120"/>
              </a:rPr>
              <a:t>CASE 1  ·  EQUITY JOINT VENTURE</a:t>
            </a:r>
            <a:endParaRPr lang="en-US" sz="1200" dirty="0"/>
          </a:p>
        </p:txBody>
      </p:sp>
      <p:sp>
        <p:nvSpPr>
          <p:cNvPr id="5" name="Text 2"/>
          <p:cNvSpPr/>
          <p:nvPr/>
        </p:nvSpPr>
        <p:spPr>
          <a:xfrm>
            <a:off x="1463040" y="722376"/>
            <a:ext cx="10515600" cy="502920"/>
          </a:xfrm>
          <a:prstGeom prst="rect">
            <a:avLst/>
          </a:prstGeom>
          <a:noFill/>
          <a:ln/>
        </p:spPr>
        <p:txBody>
          <a:bodyPr wrap="square" lIns="0" tIns="0" rIns="0" bIns="0" rtlCol="0" anchor="ctr"/>
          <a:lstStyle/>
          <a:p>
            <a:pPr indent="0" marL="0">
              <a:buNone/>
            </a:pPr>
            <a:r>
              <a:rPr lang="en-US" sz="2700" b="1" dirty="0">
                <a:solidFill>
                  <a:srgbClr val="1C2B2A"/>
                </a:solidFill>
                <a:latin typeface="Georgia" pitchFamily="34" charset="0"/>
                <a:ea typeface="Georgia" pitchFamily="34" charset="-122"/>
                <a:cs typeface="Georgia" pitchFamily="34" charset="-120"/>
              </a:rPr>
              <a:t>Indonesia: a nickel-to-battery ecosystem</a:t>
            </a:r>
            <a:endParaRPr lang="en-US" sz="2700" dirty="0"/>
          </a:p>
        </p:txBody>
      </p:sp>
      <p:sp>
        <p:nvSpPr>
          <p:cNvPr id="6" name="Shape 3"/>
          <p:cNvSpPr/>
          <p:nvPr/>
        </p:nvSpPr>
        <p:spPr>
          <a:xfrm>
            <a:off x="548640" y="1481328"/>
            <a:ext cx="5486400" cy="3611880"/>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7" name="Shape 4"/>
          <p:cNvSpPr/>
          <p:nvPr/>
        </p:nvSpPr>
        <p:spPr>
          <a:xfrm>
            <a:off x="548640" y="1481328"/>
            <a:ext cx="73152" cy="3611880"/>
          </a:xfrm>
          <a:prstGeom prst="rect">
            <a:avLst/>
          </a:prstGeom>
          <a:solidFill>
            <a:srgbClr val="12736E"/>
          </a:solidFill>
          <a:ln/>
        </p:spPr>
      </p:sp>
      <p:sp>
        <p:nvSpPr>
          <p:cNvPr id="8" name="Text 5"/>
          <p:cNvSpPr/>
          <p:nvPr/>
        </p:nvSpPr>
        <p:spPr>
          <a:xfrm>
            <a:off x="841248" y="1682496"/>
            <a:ext cx="4937760" cy="274320"/>
          </a:xfrm>
          <a:prstGeom prst="rect">
            <a:avLst/>
          </a:prstGeom>
          <a:noFill/>
          <a:ln/>
        </p:spPr>
        <p:txBody>
          <a:bodyPr wrap="square" lIns="0" tIns="0" rIns="0" bIns="0" rtlCol="0" anchor="ctr"/>
          <a:lstStyle/>
          <a:p>
            <a:pPr indent="0" marL="0">
              <a:buNone/>
            </a:pPr>
            <a:r>
              <a:rPr lang="en-US" sz="1200" b="1" spc="200" kern="0" dirty="0">
                <a:solidFill>
                  <a:srgbClr val="12736E"/>
                </a:solidFill>
                <a:latin typeface="Calibri" pitchFamily="34" charset="0"/>
                <a:ea typeface="Calibri" pitchFamily="34" charset="-122"/>
                <a:cs typeface="Calibri" pitchFamily="34" charset="-120"/>
              </a:rPr>
              <a:t>THE PROJECT</a:t>
            </a:r>
            <a:endParaRPr lang="en-US" sz="1200" dirty="0"/>
          </a:p>
        </p:txBody>
      </p:sp>
      <p:sp>
        <p:nvSpPr>
          <p:cNvPr id="9" name="Text 6"/>
          <p:cNvSpPr/>
          <p:nvPr/>
        </p:nvSpPr>
        <p:spPr>
          <a:xfrm>
            <a:off x="841248" y="2048256"/>
            <a:ext cx="4919472" cy="288036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Location: Halmahera (North Maluku) + Karawang (West Java)</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Scope: full chain — nickel mining &amp; smelting → materials → cells → recycling</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Cell plant operational by end-2026: 6.9 GWh, ramping to 15 GWh</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Output ≈ batteries for 200,000–300,000 EVs per year</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Footprint over 2,000 hectares; groundbreaking July 2025</a:t>
            </a:r>
            <a:endParaRPr lang="en-US" sz="1250" dirty="0"/>
          </a:p>
        </p:txBody>
      </p:sp>
      <p:sp>
        <p:nvSpPr>
          <p:cNvPr id="10" name="Shape 7"/>
          <p:cNvSpPr/>
          <p:nvPr/>
        </p:nvSpPr>
        <p:spPr>
          <a:xfrm>
            <a:off x="6355080" y="1481328"/>
            <a:ext cx="5285232" cy="3611880"/>
          </a:xfrm>
          <a:prstGeom prst="rect">
            <a:avLst/>
          </a:prstGeom>
          <a:solidFill>
            <a:srgbClr val="E6EFEE"/>
          </a:solidFill>
          <a:ln/>
          <a:effectLst>
            <a:outerShdw sx="100000" sy="100000" kx="0" ky="0" algn="bl" rotWithShape="0" blurRad="88900" dist="38100" dir="8100000">
              <a:srgbClr val="000000">
                <a:alpha val="12000"/>
              </a:srgbClr>
            </a:outerShdw>
          </a:effectLst>
        </p:spPr>
      </p:sp>
      <p:sp>
        <p:nvSpPr>
          <p:cNvPr id="11" name="Shape 8"/>
          <p:cNvSpPr/>
          <p:nvPr/>
        </p:nvSpPr>
        <p:spPr>
          <a:xfrm>
            <a:off x="6355080" y="1481328"/>
            <a:ext cx="73152" cy="3611880"/>
          </a:xfrm>
          <a:prstGeom prst="rect">
            <a:avLst/>
          </a:prstGeom>
          <a:solidFill>
            <a:srgbClr val="12736E"/>
          </a:solidFill>
          <a:ln/>
        </p:spPr>
      </p:sp>
      <p:sp>
        <p:nvSpPr>
          <p:cNvPr id="12" name="Text 9"/>
          <p:cNvSpPr/>
          <p:nvPr/>
        </p:nvSpPr>
        <p:spPr>
          <a:xfrm>
            <a:off x="6647688" y="1682496"/>
            <a:ext cx="4736592" cy="274320"/>
          </a:xfrm>
          <a:prstGeom prst="rect">
            <a:avLst/>
          </a:prstGeom>
          <a:noFill/>
          <a:ln/>
        </p:spPr>
        <p:txBody>
          <a:bodyPr wrap="square" lIns="0" tIns="0" rIns="0" bIns="0" rtlCol="0" anchor="ctr"/>
          <a:lstStyle/>
          <a:p>
            <a:pPr indent="0" marL="0">
              <a:buNone/>
            </a:pPr>
            <a:r>
              <a:rPr lang="en-US" sz="1200" b="1" spc="200" kern="0" dirty="0">
                <a:solidFill>
                  <a:srgbClr val="12736E"/>
                </a:solidFill>
                <a:latin typeface="Calibri" pitchFamily="34" charset="0"/>
                <a:ea typeface="Calibri" pitchFamily="34" charset="-122"/>
                <a:cs typeface="Calibri" pitchFamily="34" charset="-120"/>
              </a:rPr>
              <a:t>THE FINANCING MODEL</a:t>
            </a:r>
            <a:endParaRPr lang="en-US" sz="1200" dirty="0"/>
          </a:p>
        </p:txBody>
      </p:sp>
      <p:sp>
        <p:nvSpPr>
          <p:cNvPr id="13" name="Text 10"/>
          <p:cNvSpPr/>
          <p:nvPr/>
        </p:nvSpPr>
        <p:spPr>
          <a:xfrm>
            <a:off x="6647688" y="2011680"/>
            <a:ext cx="4718304" cy="640080"/>
          </a:xfrm>
          <a:prstGeom prst="rect">
            <a:avLst/>
          </a:prstGeom>
          <a:noFill/>
          <a:ln/>
        </p:spPr>
        <p:txBody>
          <a:bodyPr wrap="square" lIns="0" tIns="0" rIns="0" bIns="0" rtlCol="0" anchor="ctr"/>
          <a:lstStyle/>
          <a:p>
            <a:pPr indent="0" marL="0">
              <a:lnSpc>
                <a:spcPct val="103000"/>
              </a:lnSpc>
              <a:buNone/>
            </a:pPr>
            <a:r>
              <a:rPr lang="en-US" sz="1550" b="1" dirty="0">
                <a:solidFill>
                  <a:srgbClr val="1C2B2A"/>
                </a:solidFill>
                <a:latin typeface="Georgia" pitchFamily="34" charset="0"/>
                <a:ea typeface="Georgia" pitchFamily="34" charset="-122"/>
                <a:cs typeface="Georgia" pitchFamily="34" charset="-120"/>
              </a:rPr>
              <a:t>An equity joint venture with Indonesian state enterprises.</a:t>
            </a:r>
            <a:endParaRPr lang="en-US" sz="1550" dirty="0"/>
          </a:p>
        </p:txBody>
      </p:sp>
      <p:sp>
        <p:nvSpPr>
          <p:cNvPr id="14" name="Text 11"/>
          <p:cNvSpPr/>
          <p:nvPr/>
        </p:nvSpPr>
        <p:spPr>
          <a:xfrm>
            <a:off x="6647688" y="2761488"/>
            <a:ext cx="4718304" cy="16916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1C2B2A"/>
                </a:solidFill>
                <a:latin typeface="Calibri" pitchFamily="34" charset="0"/>
                <a:ea typeface="Calibri" pitchFamily="34" charset="-122"/>
                <a:cs typeface="Calibri" pitchFamily="34" charset="-120"/>
              </a:rPr>
              <a:t>CATL's subsidiary CBL partners with Antam (state-owned miner) and IBC (state battery corporation), plus Brunp and Lygend.</a:t>
            </a:r>
            <a:endParaRPr lang="en-US" sz="1200" dirty="0"/>
          </a:p>
          <a:p>
            <a:pPr marL="177800" indent="-177800">
              <a:spcAft>
                <a:spcPts val="800"/>
              </a:spcAft>
              <a:buSzPct val="100000"/>
              <a:buChar char="•"/>
            </a:pPr>
            <a:r>
              <a:rPr lang="en-US" sz="1200" dirty="0">
                <a:solidFill>
                  <a:srgbClr val="1C2B2A"/>
                </a:solidFill>
                <a:latin typeface="Calibri" pitchFamily="34" charset="0"/>
                <a:ea typeface="Calibri" pitchFamily="34" charset="-122"/>
                <a:cs typeface="Calibri" pitchFamily="34" charset="-120"/>
              </a:rPr>
              <a:t>Antam co-leads smelting; IBC co-manages the battery segments.</a:t>
            </a:r>
            <a:endParaRPr lang="en-US" sz="1200" dirty="0"/>
          </a:p>
          <a:p>
            <a:pPr marL="177800" indent="-177800">
              <a:spcAft>
                <a:spcPts val="800"/>
              </a:spcAft>
              <a:buSzPct val="100000"/>
              <a:buChar char="•"/>
            </a:pPr>
            <a:r>
              <a:rPr lang="en-US" sz="1200" dirty="0">
                <a:solidFill>
                  <a:srgbClr val="1C2B2A"/>
                </a:solidFill>
                <a:latin typeface="Calibri" pitchFamily="34" charset="0"/>
                <a:ea typeface="Calibri" pitchFamily="34" charset="-122"/>
                <a:cs typeface="Calibri" pitchFamily="34" charset="-120"/>
              </a:rPr>
              <a:t>Indonesia contributes nickel reserves and state equity; China brings cell technology and capital.</a:t>
            </a:r>
            <a:endParaRPr lang="en-US" sz="1200" dirty="0"/>
          </a:p>
        </p:txBody>
      </p:sp>
      <p:sp>
        <p:nvSpPr>
          <p:cNvPr id="15" name="Shape 12"/>
          <p:cNvSpPr/>
          <p:nvPr/>
        </p:nvSpPr>
        <p:spPr>
          <a:xfrm>
            <a:off x="6647688" y="4379976"/>
            <a:ext cx="4700016" cy="475488"/>
          </a:xfrm>
          <a:prstGeom prst="rect">
            <a:avLst/>
          </a:prstGeom>
          <a:solidFill>
            <a:srgbClr val="12736E"/>
          </a:solidFill>
          <a:ln/>
        </p:spPr>
      </p:sp>
      <p:sp>
        <p:nvSpPr>
          <p:cNvPr id="16" name="Text 13"/>
          <p:cNvSpPr/>
          <p:nvPr/>
        </p:nvSpPr>
        <p:spPr>
          <a:xfrm>
            <a:off x="6812280" y="4379976"/>
            <a:ext cx="4462272" cy="475488"/>
          </a:xfrm>
          <a:prstGeom prst="rect">
            <a:avLst/>
          </a:prstGeom>
          <a:noFill/>
          <a:ln/>
        </p:spPr>
        <p:txBody>
          <a:bodyPr wrap="square" lIns="0" tIns="0" rIns="0" bIns="0" rtlCol="0" anchor="ctr"/>
          <a:lstStyle/>
          <a:p>
            <a:pPr indent="0" marL="0">
              <a:buNone/>
            </a:pPr>
            <a:r>
              <a:rPr lang="en-US" sz="1250" b="1" i="1" dirty="0">
                <a:solidFill>
                  <a:srgbClr val="FFFFFF"/>
                </a:solidFill>
                <a:latin typeface="Calibri" pitchFamily="34" charset="0"/>
                <a:ea typeface="Calibri" pitchFamily="34" charset="-122"/>
                <a:cs typeface="Calibri" pitchFamily="34" charset="-120"/>
              </a:rPr>
              <a:t>→  Resource access is traded for a domestic battery industry.</a:t>
            </a:r>
            <a:endParaRPr lang="en-US" sz="1250" dirty="0"/>
          </a:p>
        </p:txBody>
      </p:sp>
      <p:sp>
        <p:nvSpPr>
          <p:cNvPr id="17" name="Shape 14"/>
          <p:cNvSpPr/>
          <p:nvPr/>
        </p:nvSpPr>
        <p:spPr>
          <a:xfrm>
            <a:off x="548640"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18" name="Shape 15"/>
          <p:cNvSpPr/>
          <p:nvPr/>
        </p:nvSpPr>
        <p:spPr>
          <a:xfrm>
            <a:off x="548640" y="5294376"/>
            <a:ext cx="64008" cy="841248"/>
          </a:xfrm>
          <a:prstGeom prst="rect">
            <a:avLst/>
          </a:prstGeom>
          <a:solidFill>
            <a:srgbClr val="12736E"/>
          </a:solidFill>
          <a:ln/>
        </p:spPr>
      </p:sp>
      <p:sp>
        <p:nvSpPr>
          <p:cNvPr id="19" name="Text 16"/>
          <p:cNvSpPr/>
          <p:nvPr/>
        </p:nvSpPr>
        <p:spPr>
          <a:xfrm>
            <a:off x="713232" y="5385816"/>
            <a:ext cx="2327148" cy="384048"/>
          </a:xfrm>
          <a:prstGeom prst="rect">
            <a:avLst/>
          </a:prstGeom>
          <a:noFill/>
          <a:ln/>
        </p:spPr>
        <p:txBody>
          <a:bodyPr wrap="square" lIns="0" tIns="0" rIns="0" bIns="0" rtlCol="0" anchor="ctr"/>
          <a:lstStyle/>
          <a:p>
            <a:pPr indent="0" marL="0">
              <a:buNone/>
            </a:pPr>
            <a:r>
              <a:rPr lang="en-US" sz="1900" b="1" dirty="0">
                <a:solidFill>
                  <a:srgbClr val="12736E"/>
                </a:solidFill>
                <a:latin typeface="Georgia" pitchFamily="34" charset="0"/>
                <a:ea typeface="Georgia" pitchFamily="34" charset="-122"/>
                <a:cs typeface="Georgia" pitchFamily="34" charset="-120"/>
              </a:rPr>
              <a:t>≈ $6B</a:t>
            </a:r>
            <a:endParaRPr lang="en-US" sz="1900" dirty="0"/>
          </a:p>
        </p:txBody>
      </p:sp>
      <p:sp>
        <p:nvSpPr>
          <p:cNvPr id="20" name="Text 17"/>
          <p:cNvSpPr/>
          <p:nvPr/>
        </p:nvSpPr>
        <p:spPr>
          <a:xfrm>
            <a:off x="713232"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total investment</a:t>
            </a:r>
            <a:endParaRPr lang="en-US" sz="1000" dirty="0"/>
          </a:p>
        </p:txBody>
      </p:sp>
      <p:sp>
        <p:nvSpPr>
          <p:cNvPr id="21" name="Shape 18"/>
          <p:cNvSpPr/>
          <p:nvPr/>
        </p:nvSpPr>
        <p:spPr>
          <a:xfrm>
            <a:off x="3378708"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22" name="Shape 19"/>
          <p:cNvSpPr/>
          <p:nvPr/>
        </p:nvSpPr>
        <p:spPr>
          <a:xfrm>
            <a:off x="3378708" y="5294376"/>
            <a:ext cx="64008" cy="841248"/>
          </a:xfrm>
          <a:prstGeom prst="rect">
            <a:avLst/>
          </a:prstGeom>
          <a:solidFill>
            <a:srgbClr val="12736E"/>
          </a:solidFill>
          <a:ln/>
        </p:spPr>
      </p:sp>
      <p:sp>
        <p:nvSpPr>
          <p:cNvPr id="23" name="Text 20"/>
          <p:cNvSpPr/>
          <p:nvPr/>
        </p:nvSpPr>
        <p:spPr>
          <a:xfrm>
            <a:off x="3543300" y="5385816"/>
            <a:ext cx="2327148" cy="384048"/>
          </a:xfrm>
          <a:prstGeom prst="rect">
            <a:avLst/>
          </a:prstGeom>
          <a:noFill/>
          <a:ln/>
        </p:spPr>
        <p:txBody>
          <a:bodyPr wrap="square" lIns="0" tIns="0" rIns="0" bIns="0" rtlCol="0" anchor="ctr"/>
          <a:lstStyle/>
          <a:p>
            <a:pPr indent="0" marL="0">
              <a:buNone/>
            </a:pPr>
            <a:r>
              <a:rPr lang="en-US" sz="1900" b="1" dirty="0">
                <a:solidFill>
                  <a:srgbClr val="12736E"/>
                </a:solidFill>
                <a:latin typeface="Georgia" pitchFamily="34" charset="0"/>
                <a:ea typeface="Georgia" pitchFamily="34" charset="-122"/>
                <a:cs typeface="Georgia" pitchFamily="34" charset="-120"/>
              </a:rPr>
              <a:t>200–300k</a:t>
            </a:r>
            <a:endParaRPr lang="en-US" sz="1900" dirty="0"/>
          </a:p>
        </p:txBody>
      </p:sp>
      <p:sp>
        <p:nvSpPr>
          <p:cNvPr id="24" name="Text 21"/>
          <p:cNvSpPr/>
          <p:nvPr/>
        </p:nvSpPr>
        <p:spPr>
          <a:xfrm>
            <a:off x="3543300"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EVs/yr of batteries</a:t>
            </a:r>
            <a:endParaRPr lang="en-US" sz="1000" dirty="0"/>
          </a:p>
        </p:txBody>
      </p:sp>
      <p:sp>
        <p:nvSpPr>
          <p:cNvPr id="25" name="Shape 22"/>
          <p:cNvSpPr/>
          <p:nvPr/>
        </p:nvSpPr>
        <p:spPr>
          <a:xfrm>
            <a:off x="6208776"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26" name="Shape 23"/>
          <p:cNvSpPr/>
          <p:nvPr/>
        </p:nvSpPr>
        <p:spPr>
          <a:xfrm>
            <a:off x="6208776" y="5294376"/>
            <a:ext cx="64008" cy="841248"/>
          </a:xfrm>
          <a:prstGeom prst="rect">
            <a:avLst/>
          </a:prstGeom>
          <a:solidFill>
            <a:srgbClr val="12736E"/>
          </a:solidFill>
          <a:ln/>
        </p:spPr>
      </p:sp>
      <p:sp>
        <p:nvSpPr>
          <p:cNvPr id="27" name="Text 24"/>
          <p:cNvSpPr/>
          <p:nvPr/>
        </p:nvSpPr>
        <p:spPr>
          <a:xfrm>
            <a:off x="6373368" y="5385816"/>
            <a:ext cx="2327148" cy="384048"/>
          </a:xfrm>
          <a:prstGeom prst="rect">
            <a:avLst/>
          </a:prstGeom>
          <a:noFill/>
          <a:ln/>
        </p:spPr>
        <p:txBody>
          <a:bodyPr wrap="square" lIns="0" tIns="0" rIns="0" bIns="0" rtlCol="0" anchor="ctr"/>
          <a:lstStyle/>
          <a:p>
            <a:pPr indent="0" marL="0">
              <a:buNone/>
            </a:pPr>
            <a:r>
              <a:rPr lang="en-US" sz="1900" b="1" dirty="0">
                <a:solidFill>
                  <a:srgbClr val="12736E"/>
                </a:solidFill>
                <a:latin typeface="Georgia" pitchFamily="34" charset="0"/>
                <a:ea typeface="Georgia" pitchFamily="34" charset="-122"/>
                <a:cs typeface="Georgia" pitchFamily="34" charset="-120"/>
              </a:rPr>
              <a:t>15 GWh</a:t>
            </a:r>
            <a:endParaRPr lang="en-US" sz="1900" dirty="0"/>
          </a:p>
        </p:txBody>
      </p:sp>
      <p:sp>
        <p:nvSpPr>
          <p:cNvPr id="28" name="Text 25"/>
          <p:cNvSpPr/>
          <p:nvPr/>
        </p:nvSpPr>
        <p:spPr>
          <a:xfrm>
            <a:off x="6373368"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cell capacity</a:t>
            </a:r>
            <a:endParaRPr lang="en-US" sz="1000" dirty="0"/>
          </a:p>
        </p:txBody>
      </p:sp>
      <p:sp>
        <p:nvSpPr>
          <p:cNvPr id="29" name="Shape 26"/>
          <p:cNvSpPr/>
          <p:nvPr/>
        </p:nvSpPr>
        <p:spPr>
          <a:xfrm>
            <a:off x="9038844"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30" name="Shape 27"/>
          <p:cNvSpPr/>
          <p:nvPr/>
        </p:nvSpPr>
        <p:spPr>
          <a:xfrm>
            <a:off x="9038844" y="5294376"/>
            <a:ext cx="64008" cy="841248"/>
          </a:xfrm>
          <a:prstGeom prst="rect">
            <a:avLst/>
          </a:prstGeom>
          <a:solidFill>
            <a:srgbClr val="12736E"/>
          </a:solidFill>
          <a:ln/>
        </p:spPr>
      </p:sp>
      <p:sp>
        <p:nvSpPr>
          <p:cNvPr id="31" name="Text 28"/>
          <p:cNvSpPr/>
          <p:nvPr/>
        </p:nvSpPr>
        <p:spPr>
          <a:xfrm>
            <a:off x="9203436" y="5385816"/>
            <a:ext cx="2327148" cy="384048"/>
          </a:xfrm>
          <a:prstGeom prst="rect">
            <a:avLst/>
          </a:prstGeom>
          <a:noFill/>
          <a:ln/>
        </p:spPr>
        <p:txBody>
          <a:bodyPr wrap="square" lIns="0" tIns="0" rIns="0" bIns="0" rtlCol="0" anchor="ctr"/>
          <a:lstStyle/>
          <a:p>
            <a:pPr indent="0" marL="0">
              <a:buNone/>
            </a:pPr>
            <a:r>
              <a:rPr lang="en-US" sz="1900" b="1" dirty="0">
                <a:solidFill>
                  <a:srgbClr val="12736E"/>
                </a:solidFill>
                <a:latin typeface="Georgia" pitchFamily="34" charset="0"/>
                <a:ea typeface="Georgia" pitchFamily="34" charset="-122"/>
                <a:cs typeface="Georgia" pitchFamily="34" charset="-120"/>
              </a:rPr>
              <a:t>5</a:t>
            </a:r>
            <a:endParaRPr lang="en-US" sz="1900" dirty="0"/>
          </a:p>
        </p:txBody>
      </p:sp>
      <p:sp>
        <p:nvSpPr>
          <p:cNvPr id="32" name="Text 29"/>
          <p:cNvSpPr/>
          <p:nvPr/>
        </p:nvSpPr>
        <p:spPr>
          <a:xfrm>
            <a:off x="9203436"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JV partners</a:t>
            </a:r>
            <a:endParaRPr lang="en-US" sz="1000" dirty="0"/>
          </a:p>
        </p:txBody>
      </p:sp>
      <p:sp>
        <p:nvSpPr>
          <p:cNvPr id="33" name="Text 30"/>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A6AFAD"/>
                </a:solidFill>
                <a:latin typeface="Calibri" pitchFamily="34" charset="0"/>
                <a:ea typeface="Calibri" pitchFamily="34" charset="-122"/>
                <a:cs typeface="Calibri" pitchFamily="34" charset="-120"/>
              </a:rPr>
              <a:t>BRI Renewable Energy Database  ·  Chinese New-Energy Manufacturing Abroad</a:t>
            </a:r>
            <a:endParaRPr lang="en-US" sz="900" dirty="0"/>
          </a:p>
        </p:txBody>
      </p:sp>
      <p:sp>
        <p:nvSpPr>
          <p:cNvPr id="34" name="Text 31"/>
          <p:cNvSpPr/>
          <p:nvPr/>
        </p:nvSpPr>
        <p:spPr>
          <a:xfrm>
            <a:off x="11183112" y="6455664"/>
            <a:ext cx="457200" cy="274320"/>
          </a:xfrm>
          <a:prstGeom prst="rect">
            <a:avLst/>
          </a:prstGeom>
          <a:noFill/>
          <a:ln/>
        </p:spPr>
        <p:txBody>
          <a:bodyPr wrap="square" lIns="0" tIns="0" rIns="0" bIns="0" rtlCol="0" anchor="ctr"/>
          <a:lstStyle/>
          <a:p>
            <a:pPr algn="r" indent="0" marL="0">
              <a:buNone/>
            </a:pPr>
            <a:r>
              <a:rPr lang="en-US" sz="900" dirty="0">
                <a:solidFill>
                  <a:srgbClr val="A6AFA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548640" y="457200"/>
            <a:ext cx="713232" cy="713232"/>
          </a:xfrm>
          <a:prstGeom prst="ellipse">
            <a:avLst/>
          </a:prstGeom>
          <a:solidFill>
            <a:srgbClr val="BE7C1E"/>
          </a:solidFill>
          <a:ln/>
          <a:effectLst>
            <a:outerShdw sx="100000" sy="100000" kx="0" ky="0" algn="bl" rotWithShape="0" blurRad="88900" dist="381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40664" y="649224"/>
            <a:ext cx="329184" cy="329184"/>
          </a:xfrm>
          <a:prstGeom prst="rect">
            <a:avLst/>
          </a:prstGeom>
        </p:spPr>
      </p:pic>
      <p:sp>
        <p:nvSpPr>
          <p:cNvPr id="4" name="Text 1"/>
          <p:cNvSpPr/>
          <p:nvPr/>
        </p:nvSpPr>
        <p:spPr>
          <a:xfrm>
            <a:off x="1463040" y="457200"/>
            <a:ext cx="10058400" cy="274320"/>
          </a:xfrm>
          <a:prstGeom prst="rect">
            <a:avLst/>
          </a:prstGeom>
          <a:noFill/>
          <a:ln/>
        </p:spPr>
        <p:txBody>
          <a:bodyPr wrap="square" lIns="0" tIns="0" rIns="0" bIns="0" rtlCol="0" anchor="ctr"/>
          <a:lstStyle/>
          <a:p>
            <a:pPr indent="0" marL="0">
              <a:buNone/>
            </a:pPr>
            <a:r>
              <a:rPr lang="en-US" sz="1200" b="1" spc="200" kern="0" dirty="0">
                <a:solidFill>
                  <a:srgbClr val="BE7C1E"/>
                </a:solidFill>
                <a:latin typeface="Calibri" pitchFamily="34" charset="0"/>
                <a:ea typeface="Calibri" pitchFamily="34" charset="-122"/>
                <a:cs typeface="Calibri" pitchFamily="34" charset="-120"/>
              </a:rPr>
              <a:t>CASE 2  ·  BLENDED EQUITY + INCENTIVES</a:t>
            </a:r>
            <a:endParaRPr lang="en-US" sz="1200" dirty="0"/>
          </a:p>
        </p:txBody>
      </p:sp>
      <p:sp>
        <p:nvSpPr>
          <p:cNvPr id="5" name="Text 2"/>
          <p:cNvSpPr/>
          <p:nvPr/>
        </p:nvSpPr>
        <p:spPr>
          <a:xfrm>
            <a:off x="1463040" y="722376"/>
            <a:ext cx="10515600" cy="502920"/>
          </a:xfrm>
          <a:prstGeom prst="rect">
            <a:avLst/>
          </a:prstGeom>
          <a:noFill/>
          <a:ln/>
        </p:spPr>
        <p:txBody>
          <a:bodyPr wrap="square" lIns="0" tIns="0" rIns="0" bIns="0" rtlCol="0" anchor="ctr"/>
          <a:lstStyle/>
          <a:p>
            <a:pPr indent="0" marL="0">
              <a:buNone/>
            </a:pPr>
            <a:r>
              <a:rPr lang="en-US" sz="2700" b="1" dirty="0">
                <a:solidFill>
                  <a:srgbClr val="1C2B2A"/>
                </a:solidFill>
                <a:latin typeface="Georgia" pitchFamily="34" charset="0"/>
                <a:ea typeface="Georgia" pitchFamily="34" charset="-122"/>
                <a:cs typeface="Georgia" pitchFamily="34" charset="-120"/>
              </a:rPr>
              <a:t>Morocco: Africa's first battery gigafactory</a:t>
            </a:r>
            <a:endParaRPr lang="en-US" sz="2700" dirty="0"/>
          </a:p>
        </p:txBody>
      </p:sp>
      <p:sp>
        <p:nvSpPr>
          <p:cNvPr id="6" name="Shape 3"/>
          <p:cNvSpPr/>
          <p:nvPr/>
        </p:nvSpPr>
        <p:spPr>
          <a:xfrm>
            <a:off x="548640" y="1481328"/>
            <a:ext cx="5486400" cy="3611880"/>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7" name="Shape 4"/>
          <p:cNvSpPr/>
          <p:nvPr/>
        </p:nvSpPr>
        <p:spPr>
          <a:xfrm>
            <a:off x="548640" y="1481328"/>
            <a:ext cx="73152" cy="3611880"/>
          </a:xfrm>
          <a:prstGeom prst="rect">
            <a:avLst/>
          </a:prstGeom>
          <a:solidFill>
            <a:srgbClr val="BE7C1E"/>
          </a:solidFill>
          <a:ln/>
        </p:spPr>
      </p:sp>
      <p:sp>
        <p:nvSpPr>
          <p:cNvPr id="8" name="Text 5"/>
          <p:cNvSpPr/>
          <p:nvPr/>
        </p:nvSpPr>
        <p:spPr>
          <a:xfrm>
            <a:off x="841248" y="1682496"/>
            <a:ext cx="4937760" cy="274320"/>
          </a:xfrm>
          <a:prstGeom prst="rect">
            <a:avLst/>
          </a:prstGeom>
          <a:noFill/>
          <a:ln/>
        </p:spPr>
        <p:txBody>
          <a:bodyPr wrap="square" lIns="0" tIns="0" rIns="0" bIns="0" rtlCol="0" anchor="ctr"/>
          <a:lstStyle/>
          <a:p>
            <a:pPr indent="0" marL="0">
              <a:buNone/>
            </a:pPr>
            <a:r>
              <a:rPr lang="en-US" sz="1200" b="1" spc="200" kern="0" dirty="0">
                <a:solidFill>
                  <a:srgbClr val="BE7C1E"/>
                </a:solidFill>
                <a:latin typeface="Calibri" pitchFamily="34" charset="0"/>
                <a:ea typeface="Calibri" pitchFamily="34" charset="-122"/>
                <a:cs typeface="Calibri" pitchFamily="34" charset="-120"/>
              </a:rPr>
              <a:t>THE PROJECT</a:t>
            </a:r>
            <a:endParaRPr lang="en-US" sz="1200" dirty="0"/>
          </a:p>
        </p:txBody>
      </p:sp>
      <p:sp>
        <p:nvSpPr>
          <p:cNvPr id="9" name="Text 6"/>
          <p:cNvSpPr/>
          <p:nvPr/>
        </p:nvSpPr>
        <p:spPr>
          <a:xfrm>
            <a:off x="841248" y="2048256"/>
            <a:ext cx="4919472" cy="288036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Location: Kenitra industrial hub</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Up to $6.5B across five phases (phase 1: $1.3B)</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Capacity: 20 GWh, scaling toward 100 GWh</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Vertically integrated — cells, cathodes and anodes</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Production from Q3 2026; ~17,000 direct &amp; indirect jobs</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Powered by a dedicated 500 MW wind + 2,000 MWh storage plant</a:t>
            </a:r>
            <a:endParaRPr lang="en-US" sz="1250" dirty="0"/>
          </a:p>
        </p:txBody>
      </p:sp>
      <p:sp>
        <p:nvSpPr>
          <p:cNvPr id="10" name="Shape 7"/>
          <p:cNvSpPr/>
          <p:nvPr/>
        </p:nvSpPr>
        <p:spPr>
          <a:xfrm>
            <a:off x="6355080" y="1481328"/>
            <a:ext cx="5285232" cy="3611880"/>
          </a:xfrm>
          <a:prstGeom prst="rect">
            <a:avLst/>
          </a:prstGeom>
          <a:solidFill>
            <a:srgbClr val="F6EEDD"/>
          </a:solidFill>
          <a:ln/>
          <a:effectLst>
            <a:outerShdw sx="100000" sy="100000" kx="0" ky="0" algn="bl" rotWithShape="0" blurRad="88900" dist="38100" dir="8100000">
              <a:srgbClr val="000000">
                <a:alpha val="12000"/>
              </a:srgbClr>
            </a:outerShdw>
          </a:effectLst>
        </p:spPr>
      </p:sp>
      <p:sp>
        <p:nvSpPr>
          <p:cNvPr id="11" name="Shape 8"/>
          <p:cNvSpPr/>
          <p:nvPr/>
        </p:nvSpPr>
        <p:spPr>
          <a:xfrm>
            <a:off x="6355080" y="1481328"/>
            <a:ext cx="73152" cy="3611880"/>
          </a:xfrm>
          <a:prstGeom prst="rect">
            <a:avLst/>
          </a:prstGeom>
          <a:solidFill>
            <a:srgbClr val="BE7C1E"/>
          </a:solidFill>
          <a:ln/>
        </p:spPr>
      </p:sp>
      <p:sp>
        <p:nvSpPr>
          <p:cNvPr id="12" name="Text 9"/>
          <p:cNvSpPr/>
          <p:nvPr/>
        </p:nvSpPr>
        <p:spPr>
          <a:xfrm>
            <a:off x="6647688" y="1682496"/>
            <a:ext cx="4736592" cy="274320"/>
          </a:xfrm>
          <a:prstGeom prst="rect">
            <a:avLst/>
          </a:prstGeom>
          <a:noFill/>
          <a:ln/>
        </p:spPr>
        <p:txBody>
          <a:bodyPr wrap="square" lIns="0" tIns="0" rIns="0" bIns="0" rtlCol="0" anchor="ctr"/>
          <a:lstStyle/>
          <a:p>
            <a:pPr indent="0" marL="0">
              <a:buNone/>
            </a:pPr>
            <a:r>
              <a:rPr lang="en-US" sz="1200" b="1" spc="200" kern="0" dirty="0">
                <a:solidFill>
                  <a:srgbClr val="BE7C1E"/>
                </a:solidFill>
                <a:latin typeface="Calibri" pitchFamily="34" charset="0"/>
                <a:ea typeface="Calibri" pitchFamily="34" charset="-122"/>
                <a:cs typeface="Calibri" pitchFamily="34" charset="-120"/>
              </a:rPr>
              <a:t>THE FINANCING MODEL</a:t>
            </a:r>
            <a:endParaRPr lang="en-US" sz="1200" dirty="0"/>
          </a:p>
        </p:txBody>
      </p:sp>
      <p:sp>
        <p:nvSpPr>
          <p:cNvPr id="13" name="Text 10"/>
          <p:cNvSpPr/>
          <p:nvPr/>
        </p:nvSpPr>
        <p:spPr>
          <a:xfrm>
            <a:off x="6647688" y="2011680"/>
            <a:ext cx="4718304" cy="640080"/>
          </a:xfrm>
          <a:prstGeom prst="rect">
            <a:avLst/>
          </a:prstGeom>
          <a:noFill/>
          <a:ln/>
        </p:spPr>
        <p:txBody>
          <a:bodyPr wrap="square" lIns="0" tIns="0" rIns="0" bIns="0" rtlCol="0" anchor="ctr"/>
          <a:lstStyle/>
          <a:p>
            <a:pPr indent="0" marL="0">
              <a:lnSpc>
                <a:spcPct val="103000"/>
              </a:lnSpc>
              <a:buNone/>
            </a:pPr>
            <a:r>
              <a:rPr lang="en-US" sz="1550" b="1" dirty="0">
                <a:solidFill>
                  <a:srgbClr val="1C2B2A"/>
                </a:solidFill>
                <a:latin typeface="Georgia" pitchFamily="34" charset="0"/>
                <a:ea typeface="Georgia" pitchFamily="34" charset="-122"/>
                <a:cs typeface="Georgia" pitchFamily="34" charset="-120"/>
              </a:rPr>
              <a:t>Sponsor equity + host sovereign-fund equity + state incentives.</a:t>
            </a:r>
            <a:endParaRPr lang="en-US" sz="1550" dirty="0"/>
          </a:p>
        </p:txBody>
      </p:sp>
      <p:sp>
        <p:nvSpPr>
          <p:cNvPr id="14" name="Text 11"/>
          <p:cNvSpPr/>
          <p:nvPr/>
        </p:nvSpPr>
        <p:spPr>
          <a:xfrm>
            <a:off x="6647688" y="2761488"/>
            <a:ext cx="4718304" cy="16916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1C2B2A"/>
                </a:solidFill>
                <a:latin typeface="Calibri" pitchFamily="34" charset="0"/>
                <a:ea typeface="Calibri" pitchFamily="34" charset="-122"/>
                <a:cs typeface="Calibri" pitchFamily="34" charset="-120"/>
              </a:rPr>
              <a:t>Morocco's state fund CDG (via CDG Invest / NAMA) took a ~€300M equity stake in Gotion Power Morocco.</a:t>
            </a:r>
            <a:endParaRPr lang="en-US" sz="1200" dirty="0"/>
          </a:p>
          <a:p>
            <a:pPr marL="177800" indent="-177800">
              <a:spcAft>
                <a:spcPts val="800"/>
              </a:spcAft>
              <a:buSzPct val="100000"/>
              <a:buChar char="•"/>
            </a:pPr>
            <a:r>
              <a:rPr lang="en-US" sz="1200" dirty="0">
                <a:solidFill>
                  <a:srgbClr val="1C2B2A"/>
                </a:solidFill>
                <a:latin typeface="Calibri" pitchFamily="34" charset="0"/>
                <a:ea typeface="Calibri" pitchFamily="34" charset="-122"/>
                <a:cs typeface="Calibri" pitchFamily="34" charset="-120"/>
              </a:rPr>
              <a:t>The government layered on incentives under its automotive-industry strategy.</a:t>
            </a:r>
            <a:endParaRPr lang="en-US" sz="1200" dirty="0"/>
          </a:p>
          <a:p>
            <a:pPr marL="177800" indent="-177800">
              <a:spcAft>
                <a:spcPts val="800"/>
              </a:spcAft>
              <a:buSzPct val="100000"/>
              <a:buChar char="•"/>
            </a:pPr>
            <a:r>
              <a:rPr lang="en-US" sz="1200" dirty="0">
                <a:solidFill>
                  <a:srgbClr val="1C2B2A"/>
                </a:solidFill>
                <a:latin typeface="Calibri" pitchFamily="34" charset="0"/>
                <a:ea typeface="Calibri" pitchFamily="34" charset="-122"/>
                <a:cs typeface="Calibri" pitchFamily="34" charset="-120"/>
              </a:rPr>
              <a:t>Morocco's free-trade deals with the EU and US make the plant a tariff-free export platform.</a:t>
            </a:r>
            <a:endParaRPr lang="en-US" sz="1200" dirty="0"/>
          </a:p>
        </p:txBody>
      </p:sp>
      <p:sp>
        <p:nvSpPr>
          <p:cNvPr id="15" name="Shape 12"/>
          <p:cNvSpPr/>
          <p:nvPr/>
        </p:nvSpPr>
        <p:spPr>
          <a:xfrm>
            <a:off x="6647688" y="4379976"/>
            <a:ext cx="4700016" cy="475488"/>
          </a:xfrm>
          <a:prstGeom prst="rect">
            <a:avLst/>
          </a:prstGeom>
          <a:solidFill>
            <a:srgbClr val="BE7C1E"/>
          </a:solidFill>
          <a:ln/>
        </p:spPr>
      </p:sp>
      <p:sp>
        <p:nvSpPr>
          <p:cNvPr id="16" name="Text 13"/>
          <p:cNvSpPr/>
          <p:nvPr/>
        </p:nvSpPr>
        <p:spPr>
          <a:xfrm>
            <a:off x="6812280" y="4379976"/>
            <a:ext cx="4462272" cy="475488"/>
          </a:xfrm>
          <a:prstGeom prst="rect">
            <a:avLst/>
          </a:prstGeom>
          <a:noFill/>
          <a:ln/>
        </p:spPr>
        <p:txBody>
          <a:bodyPr wrap="square" lIns="0" tIns="0" rIns="0" bIns="0" rtlCol="0" anchor="ctr"/>
          <a:lstStyle/>
          <a:p>
            <a:pPr indent="0" marL="0">
              <a:buNone/>
            </a:pPr>
            <a:r>
              <a:rPr lang="en-US" sz="1250" b="1" i="1" dirty="0">
                <a:solidFill>
                  <a:srgbClr val="FFFFFF"/>
                </a:solidFill>
                <a:latin typeface="Calibri" pitchFamily="34" charset="0"/>
                <a:ea typeface="Calibri" pitchFamily="34" charset="-122"/>
                <a:cs typeface="Calibri" pitchFamily="34" charset="-120"/>
              </a:rPr>
              <a:t>→  The host state co-invests to anchor an export industry.</a:t>
            </a:r>
            <a:endParaRPr lang="en-US" sz="1250" dirty="0"/>
          </a:p>
        </p:txBody>
      </p:sp>
      <p:sp>
        <p:nvSpPr>
          <p:cNvPr id="17" name="Shape 14"/>
          <p:cNvSpPr/>
          <p:nvPr/>
        </p:nvSpPr>
        <p:spPr>
          <a:xfrm>
            <a:off x="548640"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18" name="Shape 15"/>
          <p:cNvSpPr/>
          <p:nvPr/>
        </p:nvSpPr>
        <p:spPr>
          <a:xfrm>
            <a:off x="548640" y="5294376"/>
            <a:ext cx="64008" cy="841248"/>
          </a:xfrm>
          <a:prstGeom prst="rect">
            <a:avLst/>
          </a:prstGeom>
          <a:solidFill>
            <a:srgbClr val="BE7C1E"/>
          </a:solidFill>
          <a:ln/>
        </p:spPr>
      </p:sp>
      <p:sp>
        <p:nvSpPr>
          <p:cNvPr id="19" name="Text 16"/>
          <p:cNvSpPr/>
          <p:nvPr/>
        </p:nvSpPr>
        <p:spPr>
          <a:xfrm>
            <a:off x="713232" y="5385816"/>
            <a:ext cx="2327148" cy="384048"/>
          </a:xfrm>
          <a:prstGeom prst="rect">
            <a:avLst/>
          </a:prstGeom>
          <a:noFill/>
          <a:ln/>
        </p:spPr>
        <p:txBody>
          <a:bodyPr wrap="square" lIns="0" tIns="0" rIns="0" bIns="0" rtlCol="0" anchor="ctr"/>
          <a:lstStyle/>
          <a:p>
            <a:pPr indent="0" marL="0">
              <a:buNone/>
            </a:pPr>
            <a:r>
              <a:rPr lang="en-US" sz="1900" b="1" dirty="0">
                <a:solidFill>
                  <a:srgbClr val="BE7C1E"/>
                </a:solidFill>
                <a:latin typeface="Georgia" pitchFamily="34" charset="0"/>
                <a:ea typeface="Georgia" pitchFamily="34" charset="-122"/>
                <a:cs typeface="Georgia" pitchFamily="34" charset="-120"/>
              </a:rPr>
              <a:t>$6.5B</a:t>
            </a:r>
            <a:endParaRPr lang="en-US" sz="1900" dirty="0"/>
          </a:p>
        </p:txBody>
      </p:sp>
      <p:sp>
        <p:nvSpPr>
          <p:cNvPr id="20" name="Text 17"/>
          <p:cNvSpPr/>
          <p:nvPr/>
        </p:nvSpPr>
        <p:spPr>
          <a:xfrm>
            <a:off x="713232"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across 5 phases</a:t>
            </a:r>
            <a:endParaRPr lang="en-US" sz="1000" dirty="0"/>
          </a:p>
        </p:txBody>
      </p:sp>
      <p:sp>
        <p:nvSpPr>
          <p:cNvPr id="21" name="Shape 18"/>
          <p:cNvSpPr/>
          <p:nvPr/>
        </p:nvSpPr>
        <p:spPr>
          <a:xfrm>
            <a:off x="3378708"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22" name="Shape 19"/>
          <p:cNvSpPr/>
          <p:nvPr/>
        </p:nvSpPr>
        <p:spPr>
          <a:xfrm>
            <a:off x="3378708" y="5294376"/>
            <a:ext cx="64008" cy="841248"/>
          </a:xfrm>
          <a:prstGeom prst="rect">
            <a:avLst/>
          </a:prstGeom>
          <a:solidFill>
            <a:srgbClr val="BE7C1E"/>
          </a:solidFill>
          <a:ln/>
        </p:spPr>
      </p:sp>
      <p:sp>
        <p:nvSpPr>
          <p:cNvPr id="23" name="Text 20"/>
          <p:cNvSpPr/>
          <p:nvPr/>
        </p:nvSpPr>
        <p:spPr>
          <a:xfrm>
            <a:off x="3543300" y="5385816"/>
            <a:ext cx="2327148" cy="384048"/>
          </a:xfrm>
          <a:prstGeom prst="rect">
            <a:avLst/>
          </a:prstGeom>
          <a:noFill/>
          <a:ln/>
        </p:spPr>
        <p:txBody>
          <a:bodyPr wrap="square" lIns="0" tIns="0" rIns="0" bIns="0" rtlCol="0" anchor="ctr"/>
          <a:lstStyle/>
          <a:p>
            <a:pPr indent="0" marL="0">
              <a:buNone/>
            </a:pPr>
            <a:r>
              <a:rPr lang="en-US" sz="1900" b="1" dirty="0">
                <a:solidFill>
                  <a:srgbClr val="BE7C1E"/>
                </a:solidFill>
                <a:latin typeface="Georgia" pitchFamily="34" charset="0"/>
                <a:ea typeface="Georgia" pitchFamily="34" charset="-122"/>
                <a:cs typeface="Georgia" pitchFamily="34" charset="-120"/>
              </a:rPr>
              <a:t>20→100</a:t>
            </a:r>
            <a:endParaRPr lang="en-US" sz="1900" dirty="0"/>
          </a:p>
        </p:txBody>
      </p:sp>
      <p:sp>
        <p:nvSpPr>
          <p:cNvPr id="24" name="Text 21"/>
          <p:cNvSpPr/>
          <p:nvPr/>
        </p:nvSpPr>
        <p:spPr>
          <a:xfrm>
            <a:off x="3543300"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GWh capacity</a:t>
            </a:r>
            <a:endParaRPr lang="en-US" sz="1000" dirty="0"/>
          </a:p>
        </p:txBody>
      </p:sp>
      <p:sp>
        <p:nvSpPr>
          <p:cNvPr id="25" name="Shape 22"/>
          <p:cNvSpPr/>
          <p:nvPr/>
        </p:nvSpPr>
        <p:spPr>
          <a:xfrm>
            <a:off x="6208776"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26" name="Shape 23"/>
          <p:cNvSpPr/>
          <p:nvPr/>
        </p:nvSpPr>
        <p:spPr>
          <a:xfrm>
            <a:off x="6208776" y="5294376"/>
            <a:ext cx="64008" cy="841248"/>
          </a:xfrm>
          <a:prstGeom prst="rect">
            <a:avLst/>
          </a:prstGeom>
          <a:solidFill>
            <a:srgbClr val="BE7C1E"/>
          </a:solidFill>
          <a:ln/>
        </p:spPr>
      </p:sp>
      <p:sp>
        <p:nvSpPr>
          <p:cNvPr id="27" name="Text 24"/>
          <p:cNvSpPr/>
          <p:nvPr/>
        </p:nvSpPr>
        <p:spPr>
          <a:xfrm>
            <a:off x="6373368" y="5385816"/>
            <a:ext cx="2327148" cy="384048"/>
          </a:xfrm>
          <a:prstGeom prst="rect">
            <a:avLst/>
          </a:prstGeom>
          <a:noFill/>
          <a:ln/>
        </p:spPr>
        <p:txBody>
          <a:bodyPr wrap="square" lIns="0" tIns="0" rIns="0" bIns="0" rtlCol="0" anchor="ctr"/>
          <a:lstStyle/>
          <a:p>
            <a:pPr indent="0" marL="0">
              <a:buNone/>
            </a:pPr>
            <a:r>
              <a:rPr lang="en-US" sz="1900" b="1" dirty="0">
                <a:solidFill>
                  <a:srgbClr val="BE7C1E"/>
                </a:solidFill>
                <a:latin typeface="Georgia" pitchFamily="34" charset="0"/>
                <a:ea typeface="Georgia" pitchFamily="34" charset="-122"/>
                <a:cs typeface="Georgia" pitchFamily="34" charset="-120"/>
              </a:rPr>
              <a:t>€300M</a:t>
            </a:r>
            <a:endParaRPr lang="en-US" sz="1900" dirty="0"/>
          </a:p>
        </p:txBody>
      </p:sp>
      <p:sp>
        <p:nvSpPr>
          <p:cNvPr id="28" name="Text 25"/>
          <p:cNvSpPr/>
          <p:nvPr/>
        </p:nvSpPr>
        <p:spPr>
          <a:xfrm>
            <a:off x="6373368"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host-state equity</a:t>
            </a:r>
            <a:endParaRPr lang="en-US" sz="1000" dirty="0"/>
          </a:p>
        </p:txBody>
      </p:sp>
      <p:sp>
        <p:nvSpPr>
          <p:cNvPr id="29" name="Shape 26"/>
          <p:cNvSpPr/>
          <p:nvPr/>
        </p:nvSpPr>
        <p:spPr>
          <a:xfrm>
            <a:off x="9038844"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30" name="Shape 27"/>
          <p:cNvSpPr/>
          <p:nvPr/>
        </p:nvSpPr>
        <p:spPr>
          <a:xfrm>
            <a:off x="9038844" y="5294376"/>
            <a:ext cx="64008" cy="841248"/>
          </a:xfrm>
          <a:prstGeom prst="rect">
            <a:avLst/>
          </a:prstGeom>
          <a:solidFill>
            <a:srgbClr val="BE7C1E"/>
          </a:solidFill>
          <a:ln/>
        </p:spPr>
      </p:sp>
      <p:sp>
        <p:nvSpPr>
          <p:cNvPr id="31" name="Text 28"/>
          <p:cNvSpPr/>
          <p:nvPr/>
        </p:nvSpPr>
        <p:spPr>
          <a:xfrm>
            <a:off x="9203436" y="5385816"/>
            <a:ext cx="2327148" cy="384048"/>
          </a:xfrm>
          <a:prstGeom prst="rect">
            <a:avLst/>
          </a:prstGeom>
          <a:noFill/>
          <a:ln/>
        </p:spPr>
        <p:txBody>
          <a:bodyPr wrap="square" lIns="0" tIns="0" rIns="0" bIns="0" rtlCol="0" anchor="ctr"/>
          <a:lstStyle/>
          <a:p>
            <a:pPr indent="0" marL="0">
              <a:buNone/>
            </a:pPr>
            <a:r>
              <a:rPr lang="en-US" sz="1900" b="1" dirty="0">
                <a:solidFill>
                  <a:srgbClr val="BE7C1E"/>
                </a:solidFill>
                <a:latin typeface="Georgia" pitchFamily="34" charset="0"/>
                <a:ea typeface="Georgia" pitchFamily="34" charset="-122"/>
                <a:cs typeface="Georgia" pitchFamily="34" charset="-120"/>
              </a:rPr>
              <a:t>17,000</a:t>
            </a:r>
            <a:endParaRPr lang="en-US" sz="1900" dirty="0"/>
          </a:p>
        </p:txBody>
      </p:sp>
      <p:sp>
        <p:nvSpPr>
          <p:cNvPr id="32" name="Text 29"/>
          <p:cNvSpPr/>
          <p:nvPr/>
        </p:nvSpPr>
        <p:spPr>
          <a:xfrm>
            <a:off x="9203436"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jobs</a:t>
            </a:r>
            <a:endParaRPr lang="en-US" sz="1000" dirty="0"/>
          </a:p>
        </p:txBody>
      </p:sp>
      <p:sp>
        <p:nvSpPr>
          <p:cNvPr id="33" name="Text 30"/>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A6AFAD"/>
                </a:solidFill>
                <a:latin typeface="Calibri" pitchFamily="34" charset="0"/>
                <a:ea typeface="Calibri" pitchFamily="34" charset="-122"/>
                <a:cs typeface="Calibri" pitchFamily="34" charset="-120"/>
              </a:rPr>
              <a:t>BRI Renewable Energy Database  ·  Chinese New-Energy Manufacturing Abroad</a:t>
            </a:r>
            <a:endParaRPr lang="en-US" sz="900" dirty="0"/>
          </a:p>
        </p:txBody>
      </p:sp>
      <p:sp>
        <p:nvSpPr>
          <p:cNvPr id="34" name="Text 31"/>
          <p:cNvSpPr/>
          <p:nvPr/>
        </p:nvSpPr>
        <p:spPr>
          <a:xfrm>
            <a:off x="11183112" y="6455664"/>
            <a:ext cx="457200" cy="274320"/>
          </a:xfrm>
          <a:prstGeom prst="rect">
            <a:avLst/>
          </a:prstGeom>
          <a:noFill/>
          <a:ln/>
        </p:spPr>
        <p:txBody>
          <a:bodyPr wrap="square" lIns="0" tIns="0" rIns="0" bIns="0" rtlCol="0" anchor="ctr"/>
          <a:lstStyle/>
          <a:p>
            <a:pPr algn="r" indent="0" marL="0">
              <a:buNone/>
            </a:pPr>
            <a:r>
              <a:rPr lang="en-US" sz="900" dirty="0">
                <a:solidFill>
                  <a:srgbClr val="A6AFA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548640" y="457200"/>
            <a:ext cx="713232" cy="713232"/>
          </a:xfrm>
          <a:prstGeom prst="ellipse">
            <a:avLst/>
          </a:prstGeom>
          <a:solidFill>
            <a:srgbClr val="2F6690"/>
          </a:solidFill>
          <a:ln/>
          <a:effectLst>
            <a:outerShdw sx="100000" sy="100000" kx="0" ky="0" algn="bl" rotWithShape="0" blurRad="88900" dist="381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40664" y="649224"/>
            <a:ext cx="329184" cy="329184"/>
          </a:xfrm>
          <a:prstGeom prst="rect">
            <a:avLst/>
          </a:prstGeom>
        </p:spPr>
      </p:pic>
      <p:sp>
        <p:nvSpPr>
          <p:cNvPr id="4" name="Text 1"/>
          <p:cNvSpPr/>
          <p:nvPr/>
        </p:nvSpPr>
        <p:spPr>
          <a:xfrm>
            <a:off x="1463040" y="457200"/>
            <a:ext cx="10058400" cy="274320"/>
          </a:xfrm>
          <a:prstGeom prst="rect">
            <a:avLst/>
          </a:prstGeom>
          <a:noFill/>
          <a:ln/>
        </p:spPr>
        <p:txBody>
          <a:bodyPr wrap="square" lIns="0" tIns="0" rIns="0" bIns="0" rtlCol="0" anchor="ctr"/>
          <a:lstStyle/>
          <a:p>
            <a:pPr indent="0" marL="0">
              <a:buNone/>
            </a:pPr>
            <a:r>
              <a:rPr lang="en-US" sz="1200" b="1" spc="200" kern="0" dirty="0">
                <a:solidFill>
                  <a:srgbClr val="2F6690"/>
                </a:solidFill>
                <a:latin typeface="Calibri" pitchFamily="34" charset="0"/>
                <a:ea typeface="Calibri" pitchFamily="34" charset="-122"/>
                <a:cs typeface="Calibri" pitchFamily="34" charset="-120"/>
              </a:rPr>
              <a:t>CASE 3  ·  GREEN SYNDICATED DEBT</a:t>
            </a:r>
            <a:endParaRPr lang="en-US" sz="1200" dirty="0"/>
          </a:p>
        </p:txBody>
      </p:sp>
      <p:sp>
        <p:nvSpPr>
          <p:cNvPr id="5" name="Text 2"/>
          <p:cNvSpPr/>
          <p:nvPr/>
        </p:nvSpPr>
        <p:spPr>
          <a:xfrm>
            <a:off x="1463040" y="722376"/>
            <a:ext cx="10515600" cy="502920"/>
          </a:xfrm>
          <a:prstGeom prst="rect">
            <a:avLst/>
          </a:prstGeom>
          <a:noFill/>
          <a:ln/>
        </p:spPr>
        <p:txBody>
          <a:bodyPr wrap="square" lIns="0" tIns="0" rIns="0" bIns="0" rtlCol="0" anchor="ctr"/>
          <a:lstStyle/>
          <a:p>
            <a:pPr indent="0" marL="0">
              <a:buNone/>
            </a:pPr>
            <a:r>
              <a:rPr lang="en-US" sz="2700" b="1" dirty="0">
                <a:solidFill>
                  <a:srgbClr val="1C2B2A"/>
                </a:solidFill>
                <a:latin typeface="Georgia" pitchFamily="34" charset="0"/>
                <a:ea typeface="Georgia" pitchFamily="34" charset="-122"/>
                <a:cs typeface="Georgia" pitchFamily="34" charset="-120"/>
              </a:rPr>
              <a:t>Morocco: COBCO and export-credit finance</a:t>
            </a:r>
            <a:endParaRPr lang="en-US" sz="2700" dirty="0"/>
          </a:p>
        </p:txBody>
      </p:sp>
      <p:sp>
        <p:nvSpPr>
          <p:cNvPr id="6" name="Shape 3"/>
          <p:cNvSpPr/>
          <p:nvPr/>
        </p:nvSpPr>
        <p:spPr>
          <a:xfrm>
            <a:off x="548640" y="1481328"/>
            <a:ext cx="5486400" cy="3611880"/>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7" name="Shape 4"/>
          <p:cNvSpPr/>
          <p:nvPr/>
        </p:nvSpPr>
        <p:spPr>
          <a:xfrm>
            <a:off x="548640" y="1481328"/>
            <a:ext cx="73152" cy="3611880"/>
          </a:xfrm>
          <a:prstGeom prst="rect">
            <a:avLst/>
          </a:prstGeom>
          <a:solidFill>
            <a:srgbClr val="2F6690"/>
          </a:solidFill>
          <a:ln/>
        </p:spPr>
      </p:sp>
      <p:sp>
        <p:nvSpPr>
          <p:cNvPr id="8" name="Text 5"/>
          <p:cNvSpPr/>
          <p:nvPr/>
        </p:nvSpPr>
        <p:spPr>
          <a:xfrm>
            <a:off x="841248" y="1682496"/>
            <a:ext cx="4937760" cy="274320"/>
          </a:xfrm>
          <a:prstGeom prst="rect">
            <a:avLst/>
          </a:prstGeom>
          <a:noFill/>
          <a:ln/>
        </p:spPr>
        <p:txBody>
          <a:bodyPr wrap="square" lIns="0" tIns="0" rIns="0" bIns="0" rtlCol="0" anchor="ctr"/>
          <a:lstStyle/>
          <a:p>
            <a:pPr indent="0" marL="0">
              <a:buNone/>
            </a:pPr>
            <a:r>
              <a:rPr lang="en-US" sz="1200" b="1" spc="200" kern="0" dirty="0">
                <a:solidFill>
                  <a:srgbClr val="2F6690"/>
                </a:solidFill>
                <a:latin typeface="Calibri" pitchFamily="34" charset="0"/>
                <a:ea typeface="Calibri" pitchFamily="34" charset="-122"/>
                <a:cs typeface="Calibri" pitchFamily="34" charset="-120"/>
              </a:rPr>
              <a:t>THE PROJECT</a:t>
            </a:r>
            <a:endParaRPr lang="en-US" sz="1200" dirty="0"/>
          </a:p>
        </p:txBody>
      </p:sp>
      <p:sp>
        <p:nvSpPr>
          <p:cNvPr id="9" name="Text 6"/>
          <p:cNvSpPr/>
          <p:nvPr/>
        </p:nvSpPr>
        <p:spPr>
          <a:xfrm>
            <a:off x="841248" y="2048256"/>
            <a:ext cx="4919472" cy="288036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COBCO = CNGR + Morocco's Al Mada (local conglomerate), a joint venture</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Plant value ≈ $2B (€1.8B)</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Phase 1: 40,000 tonnes/year nickel-based precursor (cathode material)</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Operational since June 2025</a:t>
            </a:r>
            <a:endParaRPr lang="en-US" sz="1250" dirty="0"/>
          </a:p>
          <a:p>
            <a:pPr marL="177800" indent="-177800">
              <a:spcAft>
                <a:spcPts val="900"/>
              </a:spcAft>
              <a:buSzPct val="100000"/>
              <a:buChar char="•"/>
            </a:pPr>
            <a:r>
              <a:rPr lang="en-US" sz="1250" dirty="0">
                <a:solidFill>
                  <a:srgbClr val="1C2B2A"/>
                </a:solidFill>
                <a:latin typeface="Calibri" pitchFamily="34" charset="0"/>
                <a:ea typeface="Calibri" pitchFamily="34" charset="-122"/>
                <a:cs typeface="Calibri" pitchFamily="34" charset="-120"/>
              </a:rPr>
              <a:t>Supplies Umicore; first operational battery-chain plant in Africa</a:t>
            </a:r>
            <a:endParaRPr lang="en-US" sz="1250" dirty="0"/>
          </a:p>
        </p:txBody>
      </p:sp>
      <p:sp>
        <p:nvSpPr>
          <p:cNvPr id="10" name="Shape 7"/>
          <p:cNvSpPr/>
          <p:nvPr/>
        </p:nvSpPr>
        <p:spPr>
          <a:xfrm>
            <a:off x="6355080" y="1481328"/>
            <a:ext cx="5285232" cy="3611880"/>
          </a:xfrm>
          <a:prstGeom prst="rect">
            <a:avLst/>
          </a:prstGeom>
          <a:solidFill>
            <a:srgbClr val="E7EDF2"/>
          </a:solidFill>
          <a:ln/>
          <a:effectLst>
            <a:outerShdw sx="100000" sy="100000" kx="0" ky="0" algn="bl" rotWithShape="0" blurRad="88900" dist="38100" dir="8100000">
              <a:srgbClr val="000000">
                <a:alpha val="12000"/>
              </a:srgbClr>
            </a:outerShdw>
          </a:effectLst>
        </p:spPr>
      </p:sp>
      <p:sp>
        <p:nvSpPr>
          <p:cNvPr id="11" name="Shape 8"/>
          <p:cNvSpPr/>
          <p:nvPr/>
        </p:nvSpPr>
        <p:spPr>
          <a:xfrm>
            <a:off x="6355080" y="1481328"/>
            <a:ext cx="73152" cy="3611880"/>
          </a:xfrm>
          <a:prstGeom prst="rect">
            <a:avLst/>
          </a:prstGeom>
          <a:solidFill>
            <a:srgbClr val="2F6690"/>
          </a:solidFill>
          <a:ln/>
        </p:spPr>
      </p:sp>
      <p:sp>
        <p:nvSpPr>
          <p:cNvPr id="12" name="Text 9"/>
          <p:cNvSpPr/>
          <p:nvPr/>
        </p:nvSpPr>
        <p:spPr>
          <a:xfrm>
            <a:off x="6647688" y="1682496"/>
            <a:ext cx="4736592" cy="274320"/>
          </a:xfrm>
          <a:prstGeom prst="rect">
            <a:avLst/>
          </a:prstGeom>
          <a:noFill/>
          <a:ln/>
        </p:spPr>
        <p:txBody>
          <a:bodyPr wrap="square" lIns="0" tIns="0" rIns="0" bIns="0" rtlCol="0" anchor="ctr"/>
          <a:lstStyle/>
          <a:p>
            <a:pPr indent="0" marL="0">
              <a:buNone/>
            </a:pPr>
            <a:r>
              <a:rPr lang="en-US" sz="1200" b="1" spc="200" kern="0" dirty="0">
                <a:solidFill>
                  <a:srgbClr val="2F6690"/>
                </a:solidFill>
                <a:latin typeface="Calibri" pitchFamily="34" charset="0"/>
                <a:ea typeface="Calibri" pitchFamily="34" charset="-122"/>
                <a:cs typeface="Calibri" pitchFamily="34" charset="-120"/>
              </a:rPr>
              <a:t>THE FINANCING MODEL</a:t>
            </a:r>
            <a:endParaRPr lang="en-US" sz="1200" dirty="0"/>
          </a:p>
        </p:txBody>
      </p:sp>
      <p:sp>
        <p:nvSpPr>
          <p:cNvPr id="13" name="Text 10"/>
          <p:cNvSpPr/>
          <p:nvPr/>
        </p:nvSpPr>
        <p:spPr>
          <a:xfrm>
            <a:off x="6647688" y="2011680"/>
            <a:ext cx="4718304" cy="640080"/>
          </a:xfrm>
          <a:prstGeom prst="rect">
            <a:avLst/>
          </a:prstGeom>
          <a:noFill/>
          <a:ln/>
        </p:spPr>
        <p:txBody>
          <a:bodyPr wrap="square" lIns="0" tIns="0" rIns="0" bIns="0" rtlCol="0" anchor="ctr"/>
          <a:lstStyle/>
          <a:p>
            <a:pPr indent="0" marL="0">
              <a:lnSpc>
                <a:spcPct val="103000"/>
              </a:lnSpc>
              <a:buNone/>
            </a:pPr>
            <a:r>
              <a:rPr lang="en-US" sz="1550" b="1" dirty="0">
                <a:solidFill>
                  <a:srgbClr val="1C2B2A"/>
                </a:solidFill>
                <a:latin typeface="Georgia" pitchFamily="34" charset="0"/>
                <a:ea typeface="Georgia" pitchFamily="34" charset="-122"/>
                <a:cs typeface="Georgia" pitchFamily="34" charset="-120"/>
              </a:rPr>
              <a:t>An international green syndicated loan, insured by China's export-credit agency.</a:t>
            </a:r>
            <a:endParaRPr lang="en-US" sz="1550" dirty="0"/>
          </a:p>
        </p:txBody>
      </p:sp>
      <p:sp>
        <p:nvSpPr>
          <p:cNvPr id="14" name="Text 11"/>
          <p:cNvSpPr/>
          <p:nvPr/>
        </p:nvSpPr>
        <p:spPr>
          <a:xfrm>
            <a:off x="6647688" y="2761488"/>
            <a:ext cx="4718304" cy="16916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1C2B2A"/>
                </a:solidFill>
                <a:latin typeface="Calibri" pitchFamily="34" charset="0"/>
                <a:ea typeface="Calibri" pitchFamily="34" charset="-122"/>
                <a:cs typeface="Calibri" pitchFamily="34" charset="-120"/>
              </a:rPr>
              <a:t>Lead arrangers: BNP Paribas, Standard Chartered and China Construction Bank (Paris).</a:t>
            </a:r>
            <a:endParaRPr lang="en-US" sz="1200" dirty="0"/>
          </a:p>
          <a:p>
            <a:pPr marL="177800" indent="-177800">
              <a:spcAft>
                <a:spcPts val="800"/>
              </a:spcAft>
              <a:buSzPct val="100000"/>
              <a:buChar char="•"/>
            </a:pPr>
            <a:r>
              <a:rPr lang="en-US" sz="1200" dirty="0">
                <a:solidFill>
                  <a:srgbClr val="1C2B2A"/>
                </a:solidFill>
                <a:latin typeface="Calibri" pitchFamily="34" charset="0"/>
                <a:ea typeface="Calibri" pitchFamily="34" charset="-122"/>
                <a:cs typeface="Calibri" pitchFamily="34" charset="-120"/>
              </a:rPr>
              <a:t>Lenders span Europe, mainland China, Hong Kong and Africa.</a:t>
            </a:r>
            <a:endParaRPr lang="en-US" sz="1200" dirty="0"/>
          </a:p>
          <a:p>
            <a:pPr marL="177800" indent="-177800">
              <a:spcAft>
                <a:spcPts val="800"/>
              </a:spcAft>
              <a:buSzPct val="100000"/>
              <a:buChar char="•"/>
            </a:pPr>
            <a:r>
              <a:rPr lang="en-US" sz="1200" dirty="0">
                <a:solidFill>
                  <a:srgbClr val="1C2B2A"/>
                </a:solidFill>
                <a:latin typeface="Calibri" pitchFamily="34" charset="0"/>
                <a:ea typeface="Calibri" pitchFamily="34" charset="-122"/>
                <a:cs typeface="Calibri" pitchFamily="34" charset="-120"/>
              </a:rPr>
              <a:t>Sinosure (China Export &amp; Credit Insurance Corp.) provides cover that de-risks the commercial banks.</a:t>
            </a:r>
            <a:endParaRPr lang="en-US" sz="1200" dirty="0"/>
          </a:p>
        </p:txBody>
      </p:sp>
      <p:sp>
        <p:nvSpPr>
          <p:cNvPr id="15" name="Shape 12"/>
          <p:cNvSpPr/>
          <p:nvPr/>
        </p:nvSpPr>
        <p:spPr>
          <a:xfrm>
            <a:off x="6647688" y="4379976"/>
            <a:ext cx="4700016" cy="475488"/>
          </a:xfrm>
          <a:prstGeom prst="rect">
            <a:avLst/>
          </a:prstGeom>
          <a:solidFill>
            <a:srgbClr val="2F6690"/>
          </a:solidFill>
          <a:ln/>
        </p:spPr>
      </p:sp>
      <p:sp>
        <p:nvSpPr>
          <p:cNvPr id="16" name="Text 13"/>
          <p:cNvSpPr/>
          <p:nvPr/>
        </p:nvSpPr>
        <p:spPr>
          <a:xfrm>
            <a:off x="6812280" y="4379976"/>
            <a:ext cx="4462272" cy="475488"/>
          </a:xfrm>
          <a:prstGeom prst="rect">
            <a:avLst/>
          </a:prstGeom>
          <a:noFill/>
          <a:ln/>
        </p:spPr>
        <p:txBody>
          <a:bodyPr wrap="square" lIns="0" tIns="0" rIns="0" bIns="0" rtlCol="0" anchor="ctr"/>
          <a:lstStyle/>
          <a:p>
            <a:pPr indent="0" marL="0">
              <a:buNone/>
            </a:pPr>
            <a:r>
              <a:rPr lang="en-US" sz="1250" b="1" i="1" dirty="0">
                <a:solidFill>
                  <a:srgbClr val="FFFFFF"/>
                </a:solidFill>
                <a:latin typeface="Calibri" pitchFamily="34" charset="0"/>
                <a:ea typeface="Calibri" pitchFamily="34" charset="-122"/>
                <a:cs typeface="Calibri" pitchFamily="34" charset="-120"/>
              </a:rPr>
              <a:t>→  Export-credit insurance unlocks global bank lending.</a:t>
            </a:r>
            <a:endParaRPr lang="en-US" sz="1250" dirty="0"/>
          </a:p>
        </p:txBody>
      </p:sp>
      <p:sp>
        <p:nvSpPr>
          <p:cNvPr id="17" name="Shape 14"/>
          <p:cNvSpPr/>
          <p:nvPr/>
        </p:nvSpPr>
        <p:spPr>
          <a:xfrm>
            <a:off x="548640"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18" name="Shape 15"/>
          <p:cNvSpPr/>
          <p:nvPr/>
        </p:nvSpPr>
        <p:spPr>
          <a:xfrm>
            <a:off x="548640" y="5294376"/>
            <a:ext cx="64008" cy="841248"/>
          </a:xfrm>
          <a:prstGeom prst="rect">
            <a:avLst/>
          </a:prstGeom>
          <a:solidFill>
            <a:srgbClr val="2F6690"/>
          </a:solidFill>
          <a:ln/>
        </p:spPr>
      </p:sp>
      <p:sp>
        <p:nvSpPr>
          <p:cNvPr id="19" name="Text 16"/>
          <p:cNvSpPr/>
          <p:nvPr/>
        </p:nvSpPr>
        <p:spPr>
          <a:xfrm>
            <a:off x="713232" y="5385816"/>
            <a:ext cx="2327148" cy="384048"/>
          </a:xfrm>
          <a:prstGeom prst="rect">
            <a:avLst/>
          </a:prstGeom>
          <a:noFill/>
          <a:ln/>
        </p:spPr>
        <p:txBody>
          <a:bodyPr wrap="square" lIns="0" tIns="0" rIns="0" bIns="0" rtlCol="0" anchor="ctr"/>
          <a:lstStyle/>
          <a:p>
            <a:pPr indent="0" marL="0">
              <a:buNone/>
            </a:pPr>
            <a:r>
              <a:rPr lang="en-US" sz="1900" b="1" dirty="0">
                <a:solidFill>
                  <a:srgbClr val="2F6690"/>
                </a:solidFill>
                <a:latin typeface="Georgia" pitchFamily="34" charset="0"/>
                <a:ea typeface="Georgia" pitchFamily="34" charset="-122"/>
                <a:cs typeface="Georgia" pitchFamily="34" charset="-120"/>
              </a:rPr>
              <a:t>≈ $2B</a:t>
            </a:r>
            <a:endParaRPr lang="en-US" sz="1900" dirty="0"/>
          </a:p>
        </p:txBody>
      </p:sp>
      <p:sp>
        <p:nvSpPr>
          <p:cNvPr id="20" name="Text 17"/>
          <p:cNvSpPr/>
          <p:nvPr/>
        </p:nvSpPr>
        <p:spPr>
          <a:xfrm>
            <a:off x="713232"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plant value</a:t>
            </a:r>
            <a:endParaRPr lang="en-US" sz="1000" dirty="0"/>
          </a:p>
        </p:txBody>
      </p:sp>
      <p:sp>
        <p:nvSpPr>
          <p:cNvPr id="21" name="Shape 18"/>
          <p:cNvSpPr/>
          <p:nvPr/>
        </p:nvSpPr>
        <p:spPr>
          <a:xfrm>
            <a:off x="3378708"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22" name="Shape 19"/>
          <p:cNvSpPr/>
          <p:nvPr/>
        </p:nvSpPr>
        <p:spPr>
          <a:xfrm>
            <a:off x="3378708" y="5294376"/>
            <a:ext cx="64008" cy="841248"/>
          </a:xfrm>
          <a:prstGeom prst="rect">
            <a:avLst/>
          </a:prstGeom>
          <a:solidFill>
            <a:srgbClr val="2F6690"/>
          </a:solidFill>
          <a:ln/>
        </p:spPr>
      </p:sp>
      <p:sp>
        <p:nvSpPr>
          <p:cNvPr id="23" name="Text 20"/>
          <p:cNvSpPr/>
          <p:nvPr/>
        </p:nvSpPr>
        <p:spPr>
          <a:xfrm>
            <a:off x="3543300" y="5385816"/>
            <a:ext cx="2327148" cy="384048"/>
          </a:xfrm>
          <a:prstGeom prst="rect">
            <a:avLst/>
          </a:prstGeom>
          <a:noFill/>
          <a:ln/>
        </p:spPr>
        <p:txBody>
          <a:bodyPr wrap="square" lIns="0" tIns="0" rIns="0" bIns="0" rtlCol="0" anchor="ctr"/>
          <a:lstStyle/>
          <a:p>
            <a:pPr indent="0" marL="0">
              <a:buNone/>
            </a:pPr>
            <a:r>
              <a:rPr lang="en-US" sz="1900" b="1" dirty="0">
                <a:solidFill>
                  <a:srgbClr val="2F6690"/>
                </a:solidFill>
                <a:latin typeface="Georgia" pitchFamily="34" charset="0"/>
                <a:ea typeface="Georgia" pitchFamily="34" charset="-122"/>
                <a:cs typeface="Georgia" pitchFamily="34" charset="-120"/>
              </a:rPr>
              <a:t>40,000 t</a:t>
            </a:r>
            <a:endParaRPr lang="en-US" sz="1900" dirty="0"/>
          </a:p>
        </p:txBody>
      </p:sp>
      <p:sp>
        <p:nvSpPr>
          <p:cNvPr id="24" name="Text 21"/>
          <p:cNvSpPr/>
          <p:nvPr/>
        </p:nvSpPr>
        <p:spPr>
          <a:xfrm>
            <a:off x="3543300"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precursor /yr</a:t>
            </a:r>
            <a:endParaRPr lang="en-US" sz="1000" dirty="0"/>
          </a:p>
        </p:txBody>
      </p:sp>
      <p:sp>
        <p:nvSpPr>
          <p:cNvPr id="25" name="Shape 22"/>
          <p:cNvSpPr/>
          <p:nvPr/>
        </p:nvSpPr>
        <p:spPr>
          <a:xfrm>
            <a:off x="6208776"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26" name="Shape 23"/>
          <p:cNvSpPr/>
          <p:nvPr/>
        </p:nvSpPr>
        <p:spPr>
          <a:xfrm>
            <a:off x="6208776" y="5294376"/>
            <a:ext cx="64008" cy="841248"/>
          </a:xfrm>
          <a:prstGeom prst="rect">
            <a:avLst/>
          </a:prstGeom>
          <a:solidFill>
            <a:srgbClr val="2F6690"/>
          </a:solidFill>
          <a:ln/>
        </p:spPr>
      </p:sp>
      <p:sp>
        <p:nvSpPr>
          <p:cNvPr id="27" name="Text 24"/>
          <p:cNvSpPr/>
          <p:nvPr/>
        </p:nvSpPr>
        <p:spPr>
          <a:xfrm>
            <a:off x="6373368" y="5385816"/>
            <a:ext cx="2327148" cy="384048"/>
          </a:xfrm>
          <a:prstGeom prst="rect">
            <a:avLst/>
          </a:prstGeom>
          <a:noFill/>
          <a:ln/>
        </p:spPr>
        <p:txBody>
          <a:bodyPr wrap="square" lIns="0" tIns="0" rIns="0" bIns="0" rtlCol="0" anchor="ctr"/>
          <a:lstStyle/>
          <a:p>
            <a:pPr indent="0" marL="0">
              <a:buNone/>
            </a:pPr>
            <a:r>
              <a:rPr lang="en-US" sz="1900" b="1" dirty="0">
                <a:solidFill>
                  <a:srgbClr val="2F6690"/>
                </a:solidFill>
                <a:latin typeface="Georgia" pitchFamily="34" charset="0"/>
                <a:ea typeface="Georgia" pitchFamily="34" charset="-122"/>
                <a:cs typeface="Georgia" pitchFamily="34" charset="-120"/>
              </a:rPr>
              <a:t>3</a:t>
            </a:r>
            <a:endParaRPr lang="en-US" sz="1900" dirty="0"/>
          </a:p>
        </p:txBody>
      </p:sp>
      <p:sp>
        <p:nvSpPr>
          <p:cNvPr id="28" name="Text 25"/>
          <p:cNvSpPr/>
          <p:nvPr/>
        </p:nvSpPr>
        <p:spPr>
          <a:xfrm>
            <a:off x="6373368"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lead-arranger banks</a:t>
            </a:r>
            <a:endParaRPr lang="en-US" sz="1000" dirty="0"/>
          </a:p>
        </p:txBody>
      </p:sp>
      <p:sp>
        <p:nvSpPr>
          <p:cNvPr id="29" name="Shape 26"/>
          <p:cNvSpPr/>
          <p:nvPr/>
        </p:nvSpPr>
        <p:spPr>
          <a:xfrm>
            <a:off x="9038844" y="5294376"/>
            <a:ext cx="2601468" cy="841248"/>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30" name="Shape 27"/>
          <p:cNvSpPr/>
          <p:nvPr/>
        </p:nvSpPr>
        <p:spPr>
          <a:xfrm>
            <a:off x="9038844" y="5294376"/>
            <a:ext cx="64008" cy="841248"/>
          </a:xfrm>
          <a:prstGeom prst="rect">
            <a:avLst/>
          </a:prstGeom>
          <a:solidFill>
            <a:srgbClr val="2F6690"/>
          </a:solidFill>
          <a:ln/>
        </p:spPr>
      </p:sp>
      <p:sp>
        <p:nvSpPr>
          <p:cNvPr id="31" name="Text 28"/>
          <p:cNvSpPr/>
          <p:nvPr/>
        </p:nvSpPr>
        <p:spPr>
          <a:xfrm>
            <a:off x="9203436" y="5385816"/>
            <a:ext cx="2327148" cy="384048"/>
          </a:xfrm>
          <a:prstGeom prst="rect">
            <a:avLst/>
          </a:prstGeom>
          <a:noFill/>
          <a:ln/>
        </p:spPr>
        <p:txBody>
          <a:bodyPr wrap="square" lIns="0" tIns="0" rIns="0" bIns="0" rtlCol="0" anchor="ctr"/>
          <a:lstStyle/>
          <a:p>
            <a:pPr indent="0" marL="0">
              <a:buNone/>
            </a:pPr>
            <a:r>
              <a:rPr lang="en-US" sz="1900" b="1" dirty="0">
                <a:solidFill>
                  <a:srgbClr val="2F6690"/>
                </a:solidFill>
                <a:latin typeface="Georgia" pitchFamily="34" charset="0"/>
                <a:ea typeface="Georgia" pitchFamily="34" charset="-122"/>
                <a:cs typeface="Georgia" pitchFamily="34" charset="-120"/>
              </a:rPr>
              <a:t>Sinosure</a:t>
            </a:r>
            <a:endParaRPr lang="en-US" sz="1900" dirty="0"/>
          </a:p>
        </p:txBody>
      </p:sp>
      <p:sp>
        <p:nvSpPr>
          <p:cNvPr id="32" name="Text 29"/>
          <p:cNvSpPr/>
          <p:nvPr/>
        </p:nvSpPr>
        <p:spPr>
          <a:xfrm>
            <a:off x="9203436" y="5751576"/>
            <a:ext cx="2327148" cy="329184"/>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insured</a:t>
            </a:r>
            <a:endParaRPr lang="en-US" sz="1000" dirty="0"/>
          </a:p>
        </p:txBody>
      </p:sp>
      <p:sp>
        <p:nvSpPr>
          <p:cNvPr id="33" name="Text 30"/>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A6AFAD"/>
                </a:solidFill>
                <a:latin typeface="Calibri" pitchFamily="34" charset="0"/>
                <a:ea typeface="Calibri" pitchFamily="34" charset="-122"/>
                <a:cs typeface="Calibri" pitchFamily="34" charset="-120"/>
              </a:rPr>
              <a:t>BRI Renewable Energy Database  ·  Chinese New-Energy Manufacturing Abroad</a:t>
            </a:r>
            <a:endParaRPr lang="en-US" sz="900" dirty="0"/>
          </a:p>
        </p:txBody>
      </p:sp>
      <p:sp>
        <p:nvSpPr>
          <p:cNvPr id="34" name="Text 31"/>
          <p:cNvSpPr/>
          <p:nvPr/>
        </p:nvSpPr>
        <p:spPr>
          <a:xfrm>
            <a:off x="11183112" y="6455664"/>
            <a:ext cx="457200" cy="274320"/>
          </a:xfrm>
          <a:prstGeom prst="rect">
            <a:avLst/>
          </a:prstGeom>
          <a:noFill/>
          <a:ln/>
        </p:spPr>
        <p:txBody>
          <a:bodyPr wrap="square" lIns="0" tIns="0" rIns="0" bIns="0" rtlCol="0" anchor="ctr"/>
          <a:lstStyle/>
          <a:p>
            <a:pPr algn="r" indent="0" marL="0">
              <a:buNone/>
            </a:pPr>
            <a:r>
              <a:rPr lang="en-US" sz="900" dirty="0">
                <a:solidFill>
                  <a:srgbClr val="A6AFA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1C2B2A"/>
                </a:solidFill>
                <a:latin typeface="Georgia" pitchFamily="34" charset="0"/>
                <a:ea typeface="Georgia" pitchFamily="34" charset="-122"/>
                <a:cs typeface="Georgia" pitchFamily="34" charset="-120"/>
              </a:rPr>
              <a:t>Three models, side by side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737360"/>
                <a:gridCol w="2651760"/>
                <a:gridCol w="2468880"/>
                <a:gridCol w="3017520"/>
                <a:gridCol w="1197864"/>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0C3B3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Capital provider</a:t>
                      </a:r>
                      <a:endParaRPr lang="en-US" sz="13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0C3B3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Risk bearer</a:t>
                      </a:r>
                      <a:endParaRPr lang="en-US" sz="13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0C3B3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the host country gets</a:t>
                      </a:r>
                      <a:endParaRPr lang="en-US" sz="13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0C3B3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Project</a:t>
                      </a:r>
                      <a:endParaRPr lang="en-US" sz="13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0C3B3A"/>
                    </a:solidFill>
                  </a:tcPr>
                </a:tc>
              </a:tr>
              <a:tr h="1143000">
                <a:tc>
                  <a:txBody>
                    <a:bodyPr/>
                    <a:lstStyle/>
                    <a:p>
                      <a:pPr algn="l" indent="0" marL="0">
                        <a:buNone/>
                      </a:pPr>
                      <a:r>
                        <a:rPr lang="en-US" sz="1250" b="1" dirty="0">
                          <a:solidFill>
                            <a:srgbClr val="12736E"/>
                          </a:solidFill>
                          <a:latin typeface="Calibri" pitchFamily="34" charset="0"/>
                          <a:ea typeface="Calibri" pitchFamily="34" charset="-122"/>
                          <a:cs typeface="Calibri" pitchFamily="34" charset="-120"/>
                        </a:rPr>
                        <a:t>Equity JV</a:t>
                      </a:r>
                      <a:endParaRPr lang="en-US" sz="125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E6EFEE"/>
                    </a:solidFill>
                  </a:tcPr>
                </a:tc>
                <a:tc>
                  <a:txBody>
                    <a:bodyPr/>
                    <a:lstStyle/>
                    <a:p>
                      <a:pPr algn="l" indent="0" marL="0">
                        <a:buNone/>
                      </a:pPr>
                      <a:r>
                        <a:rPr lang="en-US" sz="1200" dirty="0">
                          <a:solidFill>
                            <a:srgbClr val="1C2B2A"/>
                          </a:solidFill>
                          <a:latin typeface="Calibri" pitchFamily="34" charset="0"/>
                          <a:ea typeface="Calibri" pitchFamily="34" charset="-122"/>
                          <a:cs typeface="Calibri" pitchFamily="34" charset="-120"/>
                        </a:rPr>
                        <a:t>Sponsor + host state companies (shared equity)</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2A"/>
                          </a:solidFill>
                          <a:latin typeface="Calibri" pitchFamily="34" charset="0"/>
                          <a:ea typeface="Calibri" pitchFamily="34" charset="-122"/>
                          <a:cs typeface="Calibri" pitchFamily="34" charset="-120"/>
                        </a:rPr>
                        <a:t>Shared across the JV partners</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2A"/>
                          </a:solidFill>
                          <a:latin typeface="Calibri" pitchFamily="34" charset="0"/>
                          <a:ea typeface="Calibri" pitchFamily="34" charset="-122"/>
                          <a:cs typeface="Calibri" pitchFamily="34" charset="-120"/>
                        </a:rPr>
                        <a:t>Resource value-add, jobs, technology, a state ownership stake</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C2B2A"/>
                          </a:solidFill>
                          <a:latin typeface="Calibri" pitchFamily="34" charset="0"/>
                          <a:ea typeface="Calibri" pitchFamily="34" charset="-122"/>
                          <a:cs typeface="Calibri" pitchFamily="34" charset="-120"/>
                        </a:rPr>
                        <a:t>CATL · Indonesia</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r>
              <a:tr h="1143000">
                <a:tc>
                  <a:txBody>
                    <a:bodyPr/>
                    <a:lstStyle/>
                    <a:p>
                      <a:pPr algn="l" indent="0" marL="0">
                        <a:buNone/>
                      </a:pPr>
                      <a:r>
                        <a:rPr lang="en-US" sz="1250" b="1" dirty="0">
                          <a:solidFill>
                            <a:srgbClr val="BE7C1E"/>
                          </a:solidFill>
                          <a:latin typeface="Calibri" pitchFamily="34" charset="0"/>
                          <a:ea typeface="Calibri" pitchFamily="34" charset="-122"/>
                          <a:cs typeface="Calibri" pitchFamily="34" charset="-120"/>
                        </a:rPr>
                        <a:t>Blended equity</a:t>
                      </a:r>
                      <a:endParaRPr lang="en-US" sz="125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6EEDD"/>
                    </a:solidFill>
                  </a:tcPr>
                </a:tc>
                <a:tc>
                  <a:txBody>
                    <a:bodyPr/>
                    <a:lstStyle/>
                    <a:p>
                      <a:pPr algn="l" indent="0" marL="0">
                        <a:buNone/>
                      </a:pPr>
                      <a:r>
                        <a:rPr lang="en-US" sz="1200" dirty="0">
                          <a:solidFill>
                            <a:srgbClr val="1C2B2A"/>
                          </a:solidFill>
                          <a:latin typeface="Calibri" pitchFamily="34" charset="0"/>
                          <a:ea typeface="Calibri" pitchFamily="34" charset="-122"/>
                          <a:cs typeface="Calibri" pitchFamily="34" charset="-120"/>
                        </a:rPr>
                        <a:t>Sponsor + host sovereign fund + incentives</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2A"/>
                          </a:solidFill>
                          <a:latin typeface="Calibri" pitchFamily="34" charset="0"/>
                          <a:ea typeface="Calibri" pitchFamily="34" charset="-122"/>
                          <a:cs typeface="Calibri" pitchFamily="34" charset="-120"/>
                        </a:rPr>
                        <a:t>Sponsor and host state (both hold equity)</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2A"/>
                          </a:solidFill>
                          <a:latin typeface="Calibri" pitchFamily="34" charset="0"/>
                          <a:ea typeface="Calibri" pitchFamily="34" charset="-122"/>
                          <a:cs typeface="Calibri" pitchFamily="34" charset="-120"/>
                        </a:rPr>
                        <a:t>Export industry, jobs, equity upside for the state</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C2B2A"/>
                          </a:solidFill>
                          <a:latin typeface="Calibri" pitchFamily="34" charset="0"/>
                          <a:ea typeface="Calibri" pitchFamily="34" charset="-122"/>
                          <a:cs typeface="Calibri" pitchFamily="34" charset="-120"/>
                        </a:rPr>
                        <a:t>Gotion · Morocco</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r>
              <a:tr h="1143000">
                <a:tc>
                  <a:txBody>
                    <a:bodyPr/>
                    <a:lstStyle/>
                    <a:p>
                      <a:pPr algn="l" indent="0" marL="0">
                        <a:buNone/>
                      </a:pPr>
                      <a:r>
                        <a:rPr lang="en-US" sz="1250" b="1" dirty="0">
                          <a:solidFill>
                            <a:srgbClr val="2F6690"/>
                          </a:solidFill>
                          <a:latin typeface="Calibri" pitchFamily="34" charset="0"/>
                          <a:ea typeface="Calibri" pitchFamily="34" charset="-122"/>
                          <a:cs typeface="Calibri" pitchFamily="34" charset="-120"/>
                        </a:rPr>
                        <a:t>Green debt</a:t>
                      </a:r>
                      <a:endParaRPr lang="en-US" sz="125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E7EDF2"/>
                    </a:solidFill>
                  </a:tcPr>
                </a:tc>
                <a:tc>
                  <a:txBody>
                    <a:bodyPr/>
                    <a:lstStyle/>
                    <a:p>
                      <a:pPr algn="l" indent="0" marL="0">
                        <a:buNone/>
                      </a:pPr>
                      <a:r>
                        <a:rPr lang="en-US" sz="1200" dirty="0">
                          <a:solidFill>
                            <a:srgbClr val="1C2B2A"/>
                          </a:solidFill>
                          <a:latin typeface="Calibri" pitchFamily="34" charset="0"/>
                          <a:ea typeface="Calibri" pitchFamily="34" charset="-122"/>
                          <a:cs typeface="Calibri" pitchFamily="34" charset="-120"/>
                        </a:rPr>
                        <a:t>International bank syndicate (debt)</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2A"/>
                          </a:solidFill>
                          <a:latin typeface="Calibri" pitchFamily="34" charset="0"/>
                          <a:ea typeface="Calibri" pitchFamily="34" charset="-122"/>
                          <a:cs typeface="Calibri" pitchFamily="34" charset="-120"/>
                        </a:rPr>
                        <a:t>Banks — backed by Sinosure insurance</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2A"/>
                          </a:solidFill>
                          <a:latin typeface="Calibri" pitchFamily="34" charset="0"/>
                          <a:ea typeface="Calibri" pitchFamily="34" charset="-122"/>
                          <a:cs typeface="Calibri" pitchFamily="34" charset="-120"/>
                        </a:rPr>
                        <a:t>Industrial capacity, materials exports, a local JV partner</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C2B2A"/>
                          </a:solidFill>
                          <a:latin typeface="Calibri" pitchFamily="34" charset="0"/>
                          <a:ea typeface="Calibri" pitchFamily="34" charset="-122"/>
                          <a:cs typeface="Calibri" pitchFamily="34" charset="-120"/>
                        </a:rPr>
                        <a:t>COBCO · Morocco</a:t>
                      </a:r>
                      <a:endParaRPr lang="en-US" sz="1200" dirty="0">
                        <a:latin typeface="Calibri" charset="0"/>
                        <a:ea typeface="Calibri" charset="0"/>
                        <a:cs typeface="Calibri" charset="0"/>
                      </a:endParaRPr>
                    </a:p>
                  </a:txBody>
                  <a:tcPr marL="101600" marR="101600" marT="76200" marB="76200" anchor="ctr">
                    <a:lnL w="12700" cap="flat" cmpd="sng" algn="ctr">
                      <a:solidFill>
                        <a:srgbClr val="E5DFD4"/>
                      </a:solidFill>
                      <a:prstDash val="solid"/>
                      <a:round/>
                      <a:headEnd type="none" w="med" len="med"/>
                      <a:tailEnd type="none" w="med" len="med"/>
                    </a:lnL>
                    <a:lnR w="12700" cap="flat" cmpd="sng" algn="ctr">
                      <a:solidFill>
                        <a:srgbClr val="E5DFD4"/>
                      </a:solidFill>
                      <a:prstDash val="solid"/>
                      <a:round/>
                      <a:headEnd type="none" w="med" len="med"/>
                      <a:tailEnd type="none" w="med" len="med"/>
                    </a:lnR>
                    <a:lnT w="12700" cap="flat" cmpd="sng" algn="ctr">
                      <a:solidFill>
                        <a:srgbClr val="E5DFD4"/>
                      </a:solidFill>
                      <a:prstDash val="solid"/>
                      <a:round/>
                      <a:headEnd type="none" w="med" len="med"/>
                      <a:tailEnd type="none" w="med" len="med"/>
                    </a:lnT>
                    <a:lnB w="12700" cap="flat" cmpd="sng" algn="ctr">
                      <a:solidFill>
                        <a:srgbClr val="E5DFD4"/>
                      </a:solidFill>
                      <a:prstDash val="solid"/>
                      <a:round/>
                      <a:headEnd type="none" w="med" len="med"/>
                      <a:tailEnd type="none" w="med" len="med"/>
                    </a:lnB>
                    <a:solidFill>
                      <a:srgbClr val="FFFFFF"/>
                    </a:solidFill>
                  </a:tcPr>
                </a:tc>
              </a:tr>
            </a:tbl>
          </a:graphicData>
        </a:graphic>
      </p:graphicFrame>
      <p:sp>
        <p:nvSpPr>
          <p:cNvPr id="4" name="Text 1"/>
          <p:cNvSpPr/>
          <p:nvPr/>
        </p:nvSpPr>
        <p:spPr>
          <a:xfrm>
            <a:off x="548640" y="5806440"/>
            <a:ext cx="11091672" cy="411480"/>
          </a:xfrm>
          <a:prstGeom prst="rect">
            <a:avLst/>
          </a:prstGeom>
          <a:noFill/>
          <a:ln/>
        </p:spPr>
        <p:txBody>
          <a:bodyPr wrap="square" lIns="0" tIns="0" rIns="0" bIns="0" rtlCol="0" anchor="ctr"/>
          <a:lstStyle/>
          <a:p>
            <a:pPr algn="ctr" indent="0" marL="0">
              <a:buNone/>
            </a:pPr>
            <a:r>
              <a:rPr lang="en-US" sz="1400" b="1" i="1" dirty="0">
                <a:solidFill>
                  <a:srgbClr val="0C3B3A"/>
                </a:solidFill>
                <a:latin typeface="Calibri" pitchFamily="34" charset="0"/>
                <a:ea typeface="Calibri" pitchFamily="34" charset="-122"/>
                <a:cs typeface="Calibri" pitchFamily="34" charset="-120"/>
              </a:rPr>
              <a:t>In every case the host country holds equity or a local stake — these are partnerships, not enclaves.</a:t>
            </a:r>
            <a:endParaRPr lang="en-US" sz="1400" dirty="0"/>
          </a:p>
        </p:txBody>
      </p:sp>
      <p:sp>
        <p:nvSpPr>
          <p:cNvPr id="5" name="Text 2"/>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A6AFAD"/>
                </a:solidFill>
                <a:latin typeface="Calibri" pitchFamily="34" charset="0"/>
                <a:ea typeface="Calibri" pitchFamily="34" charset="-122"/>
                <a:cs typeface="Calibri" pitchFamily="34" charset="-120"/>
              </a:rPr>
              <a:t>BRI Renewable Energy Database  ·  Chinese New-Energy Manufacturing Abroad</a:t>
            </a:r>
            <a:endParaRPr lang="en-US" sz="900" dirty="0"/>
          </a:p>
        </p:txBody>
      </p:sp>
      <p:sp>
        <p:nvSpPr>
          <p:cNvPr id="6" name="Text 3"/>
          <p:cNvSpPr/>
          <p:nvPr/>
        </p:nvSpPr>
        <p:spPr>
          <a:xfrm>
            <a:off x="11183112" y="6455664"/>
            <a:ext cx="457200" cy="274320"/>
          </a:xfrm>
          <a:prstGeom prst="rect">
            <a:avLst/>
          </a:prstGeom>
          <a:noFill/>
          <a:ln/>
        </p:spPr>
        <p:txBody>
          <a:bodyPr wrap="square" lIns="0" tIns="0" rIns="0" bIns="0" rtlCol="0" anchor="ctr"/>
          <a:lstStyle/>
          <a:p>
            <a:pPr algn="r" indent="0" marL="0">
              <a:buNone/>
            </a:pPr>
            <a:r>
              <a:rPr lang="en-US" sz="900" dirty="0">
                <a:solidFill>
                  <a:srgbClr val="A6AFA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3B3A"/>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What this means for the Global South</a:t>
            </a:r>
            <a:endParaRPr lang="en-US" sz="3000" dirty="0"/>
          </a:p>
        </p:txBody>
      </p:sp>
      <p:sp>
        <p:nvSpPr>
          <p:cNvPr id="3" name="Shape 1"/>
          <p:cNvSpPr/>
          <p:nvPr/>
        </p:nvSpPr>
        <p:spPr>
          <a:xfrm>
            <a:off x="548640" y="1371600"/>
            <a:ext cx="5317236" cy="4297680"/>
          </a:xfrm>
          <a:prstGeom prst="rect">
            <a:avLst/>
          </a:prstGeom>
          <a:solidFill>
            <a:srgbClr val="0F4A47"/>
          </a:solidFill>
          <a:ln/>
        </p:spPr>
      </p:sp>
      <p:sp>
        <p:nvSpPr>
          <p:cNvPr id="4" name="Shape 2"/>
          <p:cNvSpPr/>
          <p:nvPr/>
        </p:nvSpPr>
        <p:spPr>
          <a:xfrm>
            <a:off x="548640" y="1371600"/>
            <a:ext cx="5317236" cy="640080"/>
          </a:xfrm>
          <a:prstGeom prst="rect">
            <a:avLst/>
          </a:prstGeom>
          <a:solidFill>
            <a:srgbClr val="12736E"/>
          </a:solidFill>
          <a:ln/>
        </p:spPr>
      </p:sp>
      <p:sp>
        <p:nvSpPr>
          <p:cNvPr id="5" name="Text 3"/>
          <p:cNvSpPr/>
          <p:nvPr/>
        </p:nvSpPr>
        <p:spPr>
          <a:xfrm>
            <a:off x="822960" y="1371600"/>
            <a:ext cx="4768596" cy="640080"/>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OPPORTUNITIES</a:t>
            </a:r>
            <a:endParaRPr lang="en-US" sz="1500" dirty="0"/>
          </a:p>
        </p:txBody>
      </p:sp>
      <p:pic>
        <p:nvPicPr>
          <p:cNvPr id="6" name="Image 0" descr="preencoded.png">    </p:cNvPr>
          <p:cNvPicPr>
            <a:picLocks noChangeAspect="1"/>
          </p:cNvPicPr>
          <p:nvPr/>
        </p:nvPicPr>
        <p:blipFill>
          <a:blip r:embed="rId1"/>
          <a:stretch>
            <a:fillRect/>
          </a:stretch>
        </p:blipFill>
        <p:spPr>
          <a:xfrm>
            <a:off x="841248" y="2313432"/>
            <a:ext cx="310896" cy="310896"/>
          </a:xfrm>
          <a:prstGeom prst="rect">
            <a:avLst/>
          </a:prstGeom>
        </p:spPr>
      </p:pic>
      <p:sp>
        <p:nvSpPr>
          <p:cNvPr id="7" name="Text 4"/>
          <p:cNvSpPr/>
          <p:nvPr/>
        </p:nvSpPr>
        <p:spPr>
          <a:xfrm>
            <a:off x="1325880" y="2240280"/>
            <a:ext cx="4265676" cy="960120"/>
          </a:xfrm>
          <a:prstGeom prst="rect">
            <a:avLst/>
          </a:prstGeom>
          <a:noFill/>
          <a:ln/>
        </p:spPr>
        <p:txBody>
          <a:bodyPr wrap="square" lIns="0" tIns="0" rIns="0" bIns="0" rtlCol="0" anchor="t"/>
          <a:lstStyle/>
          <a:p>
            <a:pPr indent="0" marL="0">
              <a:lnSpc>
                <a:spcPct val="105000"/>
              </a:lnSpc>
              <a:buNone/>
            </a:pPr>
            <a:r>
              <a:rPr lang="en-US" sz="1350" dirty="0">
                <a:solidFill>
                  <a:srgbClr val="E7F0EF"/>
                </a:solidFill>
                <a:latin typeface="Calibri" pitchFamily="34" charset="0"/>
                <a:ea typeface="Calibri" pitchFamily="34" charset="-122"/>
                <a:cs typeface="Calibri" pitchFamily="34" charset="-120"/>
              </a:rPr>
              <a:t>Move up the value chain — from exporting raw minerals to making materials, cells and EVs.</a:t>
            </a:r>
            <a:endParaRPr lang="en-US" sz="1350" dirty="0"/>
          </a:p>
        </p:txBody>
      </p:sp>
      <p:pic>
        <p:nvPicPr>
          <p:cNvPr id="8" name="Image 1" descr="preencoded.png">    </p:cNvPr>
          <p:cNvPicPr>
            <a:picLocks noChangeAspect="1"/>
          </p:cNvPicPr>
          <p:nvPr/>
        </p:nvPicPr>
        <p:blipFill>
          <a:blip r:embed="rId2"/>
          <a:stretch>
            <a:fillRect/>
          </a:stretch>
        </p:blipFill>
        <p:spPr>
          <a:xfrm>
            <a:off x="841248" y="3685032"/>
            <a:ext cx="310896" cy="310896"/>
          </a:xfrm>
          <a:prstGeom prst="rect">
            <a:avLst/>
          </a:prstGeom>
        </p:spPr>
      </p:pic>
      <p:sp>
        <p:nvSpPr>
          <p:cNvPr id="9" name="Text 5"/>
          <p:cNvSpPr/>
          <p:nvPr/>
        </p:nvSpPr>
        <p:spPr>
          <a:xfrm>
            <a:off x="1325880" y="3611880"/>
            <a:ext cx="4265676" cy="960120"/>
          </a:xfrm>
          <a:prstGeom prst="rect">
            <a:avLst/>
          </a:prstGeom>
          <a:noFill/>
          <a:ln/>
        </p:spPr>
        <p:txBody>
          <a:bodyPr wrap="square" lIns="0" tIns="0" rIns="0" bIns="0" rtlCol="0" anchor="t"/>
          <a:lstStyle/>
          <a:p>
            <a:pPr indent="0" marL="0">
              <a:lnSpc>
                <a:spcPct val="105000"/>
              </a:lnSpc>
              <a:buNone/>
            </a:pPr>
            <a:r>
              <a:rPr lang="en-US" sz="1350" dirty="0">
                <a:solidFill>
                  <a:srgbClr val="E7F0EF"/>
                </a:solidFill>
                <a:latin typeface="Calibri" pitchFamily="34" charset="0"/>
                <a:ea typeface="Calibri" pitchFamily="34" charset="-122"/>
                <a:cs typeface="Calibri" pitchFamily="34" charset="-120"/>
              </a:rPr>
              <a:t>Host states are not passive sites: they take equity (IBC / Antam, CDG) or local JV stakes (Al Mada).</a:t>
            </a:r>
            <a:endParaRPr lang="en-US" sz="1350" dirty="0"/>
          </a:p>
        </p:txBody>
      </p:sp>
      <p:pic>
        <p:nvPicPr>
          <p:cNvPr id="10" name="Image 2" descr="preencoded.png">    </p:cNvPr>
          <p:cNvPicPr>
            <a:picLocks noChangeAspect="1"/>
          </p:cNvPicPr>
          <p:nvPr/>
        </p:nvPicPr>
        <p:blipFill>
          <a:blip r:embed="rId3"/>
          <a:stretch>
            <a:fillRect/>
          </a:stretch>
        </p:blipFill>
        <p:spPr>
          <a:xfrm>
            <a:off x="841248" y="5056632"/>
            <a:ext cx="310896" cy="310896"/>
          </a:xfrm>
          <a:prstGeom prst="rect">
            <a:avLst/>
          </a:prstGeom>
        </p:spPr>
      </p:pic>
      <p:sp>
        <p:nvSpPr>
          <p:cNvPr id="11" name="Text 6"/>
          <p:cNvSpPr/>
          <p:nvPr/>
        </p:nvSpPr>
        <p:spPr>
          <a:xfrm>
            <a:off x="1325880" y="4983480"/>
            <a:ext cx="4265676" cy="960120"/>
          </a:xfrm>
          <a:prstGeom prst="rect">
            <a:avLst/>
          </a:prstGeom>
          <a:noFill/>
          <a:ln/>
        </p:spPr>
        <p:txBody>
          <a:bodyPr wrap="square" lIns="0" tIns="0" rIns="0" bIns="0" rtlCol="0" anchor="t"/>
          <a:lstStyle/>
          <a:p>
            <a:pPr indent="0" marL="0">
              <a:lnSpc>
                <a:spcPct val="105000"/>
              </a:lnSpc>
              <a:buNone/>
            </a:pPr>
            <a:r>
              <a:rPr lang="en-US" sz="1350" dirty="0">
                <a:solidFill>
                  <a:srgbClr val="E7F0EF"/>
                </a:solidFill>
                <a:latin typeface="Calibri" pitchFamily="34" charset="0"/>
                <a:ea typeface="Calibri" pitchFamily="34" charset="-122"/>
                <a:cs typeface="Calibri" pitchFamily="34" charset="-120"/>
              </a:rPr>
              <a:t>Jobs, technology transfer, and tariff-free export platforms into the EU and US.</a:t>
            </a:r>
            <a:endParaRPr lang="en-US" sz="1350" dirty="0"/>
          </a:p>
        </p:txBody>
      </p:sp>
      <p:sp>
        <p:nvSpPr>
          <p:cNvPr id="12" name="Shape 7"/>
          <p:cNvSpPr/>
          <p:nvPr/>
        </p:nvSpPr>
        <p:spPr>
          <a:xfrm>
            <a:off x="6323076" y="1371600"/>
            <a:ext cx="5317236" cy="4297680"/>
          </a:xfrm>
          <a:prstGeom prst="rect">
            <a:avLst/>
          </a:prstGeom>
          <a:solidFill>
            <a:srgbClr val="3B3320"/>
          </a:solidFill>
          <a:ln/>
        </p:spPr>
      </p:sp>
      <p:sp>
        <p:nvSpPr>
          <p:cNvPr id="13" name="Shape 8"/>
          <p:cNvSpPr/>
          <p:nvPr/>
        </p:nvSpPr>
        <p:spPr>
          <a:xfrm>
            <a:off x="6323076" y="1371600"/>
            <a:ext cx="5317236" cy="640080"/>
          </a:xfrm>
          <a:prstGeom prst="rect">
            <a:avLst/>
          </a:prstGeom>
          <a:solidFill>
            <a:srgbClr val="BE7C1E"/>
          </a:solidFill>
          <a:ln/>
        </p:spPr>
      </p:sp>
      <p:sp>
        <p:nvSpPr>
          <p:cNvPr id="14" name="Text 9"/>
          <p:cNvSpPr/>
          <p:nvPr/>
        </p:nvSpPr>
        <p:spPr>
          <a:xfrm>
            <a:off x="6597396" y="1371600"/>
            <a:ext cx="4768596" cy="640080"/>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WATCH-OUTS</a:t>
            </a:r>
            <a:endParaRPr lang="en-US" sz="1500" dirty="0"/>
          </a:p>
        </p:txBody>
      </p:sp>
      <p:pic>
        <p:nvPicPr>
          <p:cNvPr id="15" name="Image 3" descr="preencoded.png">    </p:cNvPr>
          <p:cNvPicPr>
            <a:picLocks noChangeAspect="1"/>
          </p:cNvPicPr>
          <p:nvPr/>
        </p:nvPicPr>
        <p:blipFill>
          <a:blip r:embed="rId4"/>
          <a:stretch>
            <a:fillRect/>
          </a:stretch>
        </p:blipFill>
        <p:spPr>
          <a:xfrm>
            <a:off x="6615684" y="2313432"/>
            <a:ext cx="310896" cy="310896"/>
          </a:xfrm>
          <a:prstGeom prst="rect">
            <a:avLst/>
          </a:prstGeom>
        </p:spPr>
      </p:pic>
      <p:sp>
        <p:nvSpPr>
          <p:cNvPr id="16" name="Text 10"/>
          <p:cNvSpPr/>
          <p:nvPr/>
        </p:nvSpPr>
        <p:spPr>
          <a:xfrm>
            <a:off x="7100316" y="2240280"/>
            <a:ext cx="4265676" cy="960120"/>
          </a:xfrm>
          <a:prstGeom prst="rect">
            <a:avLst/>
          </a:prstGeom>
          <a:noFill/>
          <a:ln/>
        </p:spPr>
        <p:txBody>
          <a:bodyPr wrap="square" lIns="0" tIns="0" rIns="0" bIns="0" rtlCol="0" anchor="t"/>
          <a:lstStyle/>
          <a:p>
            <a:pPr indent="0" marL="0">
              <a:lnSpc>
                <a:spcPct val="105000"/>
              </a:lnSpc>
              <a:buNone/>
            </a:pPr>
            <a:r>
              <a:rPr lang="en-US" sz="1350" dirty="0">
                <a:solidFill>
                  <a:srgbClr val="F2E9D8"/>
                </a:solidFill>
                <a:latin typeface="Calibri" pitchFamily="34" charset="0"/>
                <a:ea typeface="Calibri" pitchFamily="34" charset="-122"/>
                <a:cs typeface="Calibri" pitchFamily="34" charset="-120"/>
              </a:rPr>
              <a:t>Concentration: technology, financing and offtake remain largely Chinese-anchored.</a:t>
            </a:r>
            <a:endParaRPr lang="en-US" sz="1350" dirty="0"/>
          </a:p>
        </p:txBody>
      </p:sp>
      <p:pic>
        <p:nvPicPr>
          <p:cNvPr id="17" name="Image 4" descr="preencoded.png">    </p:cNvPr>
          <p:cNvPicPr>
            <a:picLocks noChangeAspect="1"/>
          </p:cNvPicPr>
          <p:nvPr/>
        </p:nvPicPr>
        <p:blipFill>
          <a:blip r:embed="rId5"/>
          <a:stretch>
            <a:fillRect/>
          </a:stretch>
        </p:blipFill>
        <p:spPr>
          <a:xfrm>
            <a:off x="6615684" y="3685032"/>
            <a:ext cx="310896" cy="310896"/>
          </a:xfrm>
          <a:prstGeom prst="rect">
            <a:avLst/>
          </a:prstGeom>
        </p:spPr>
      </p:pic>
      <p:sp>
        <p:nvSpPr>
          <p:cNvPr id="18" name="Text 11"/>
          <p:cNvSpPr/>
          <p:nvPr/>
        </p:nvSpPr>
        <p:spPr>
          <a:xfrm>
            <a:off x="7100316" y="3611880"/>
            <a:ext cx="4265676" cy="960120"/>
          </a:xfrm>
          <a:prstGeom prst="rect">
            <a:avLst/>
          </a:prstGeom>
          <a:noFill/>
          <a:ln/>
        </p:spPr>
        <p:txBody>
          <a:bodyPr wrap="square" lIns="0" tIns="0" rIns="0" bIns="0" rtlCol="0" anchor="t"/>
          <a:lstStyle/>
          <a:p>
            <a:pPr indent="0" marL="0">
              <a:lnSpc>
                <a:spcPct val="105000"/>
              </a:lnSpc>
              <a:buNone/>
            </a:pPr>
            <a:r>
              <a:rPr lang="en-US" sz="1350" dirty="0">
                <a:solidFill>
                  <a:srgbClr val="F2E9D8"/>
                </a:solidFill>
                <a:latin typeface="Calibri" pitchFamily="34" charset="0"/>
                <a:ea typeface="Calibri" pitchFamily="34" charset="-122"/>
                <a:cs typeface="Calibri" pitchFamily="34" charset="-120"/>
              </a:rPr>
              <a:t>Debt and currency exposure where projects lean on syndicated loans.</a:t>
            </a:r>
            <a:endParaRPr lang="en-US" sz="1350" dirty="0"/>
          </a:p>
        </p:txBody>
      </p:sp>
      <p:pic>
        <p:nvPicPr>
          <p:cNvPr id="19" name="Image 5" descr="preencoded.png">    </p:cNvPr>
          <p:cNvPicPr>
            <a:picLocks noChangeAspect="1"/>
          </p:cNvPicPr>
          <p:nvPr/>
        </p:nvPicPr>
        <p:blipFill>
          <a:blip r:embed="rId6"/>
          <a:stretch>
            <a:fillRect/>
          </a:stretch>
        </p:blipFill>
        <p:spPr>
          <a:xfrm>
            <a:off x="6615684" y="5056632"/>
            <a:ext cx="310896" cy="310896"/>
          </a:xfrm>
          <a:prstGeom prst="rect">
            <a:avLst/>
          </a:prstGeom>
        </p:spPr>
      </p:pic>
      <p:sp>
        <p:nvSpPr>
          <p:cNvPr id="20" name="Text 12"/>
          <p:cNvSpPr/>
          <p:nvPr/>
        </p:nvSpPr>
        <p:spPr>
          <a:xfrm>
            <a:off x="7100316" y="4983480"/>
            <a:ext cx="4265676" cy="960120"/>
          </a:xfrm>
          <a:prstGeom prst="rect">
            <a:avLst/>
          </a:prstGeom>
          <a:noFill/>
          <a:ln/>
        </p:spPr>
        <p:txBody>
          <a:bodyPr wrap="square" lIns="0" tIns="0" rIns="0" bIns="0" rtlCol="0" anchor="t"/>
          <a:lstStyle/>
          <a:p>
            <a:pPr indent="0" marL="0">
              <a:lnSpc>
                <a:spcPct val="105000"/>
              </a:lnSpc>
              <a:buNone/>
            </a:pPr>
            <a:r>
              <a:rPr lang="en-US" sz="1350" dirty="0">
                <a:solidFill>
                  <a:srgbClr val="F2E9D8"/>
                </a:solidFill>
                <a:latin typeface="Calibri" pitchFamily="34" charset="0"/>
                <a:ea typeface="Calibri" pitchFamily="34" charset="-122"/>
                <a:cs typeface="Calibri" pitchFamily="34" charset="-120"/>
              </a:rPr>
              <a:t>Environmental and governance stakes — nickel processing, water use and land.</a:t>
            </a:r>
            <a:endParaRPr lang="en-US" sz="1350" dirty="0"/>
          </a:p>
        </p:txBody>
      </p:sp>
      <p:sp>
        <p:nvSpPr>
          <p:cNvPr id="21" name="Text 1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7F9C9A"/>
                </a:solidFill>
                <a:latin typeface="Calibri" pitchFamily="34" charset="0"/>
                <a:ea typeface="Calibri" pitchFamily="34" charset="-122"/>
                <a:cs typeface="Calibri" pitchFamily="34" charset="-120"/>
              </a:rPr>
              <a:t>BRI Renewable Energy Database  ·  Chinese New-Energy Manufacturing Abroad</a:t>
            </a:r>
            <a:endParaRPr lang="en-US" sz="900" dirty="0"/>
          </a:p>
        </p:txBody>
      </p:sp>
      <p:sp>
        <p:nvSpPr>
          <p:cNvPr id="22" name="Text 14"/>
          <p:cNvSpPr/>
          <p:nvPr/>
        </p:nvSpPr>
        <p:spPr>
          <a:xfrm>
            <a:off x="11183112" y="6455664"/>
            <a:ext cx="457200" cy="274320"/>
          </a:xfrm>
          <a:prstGeom prst="rect">
            <a:avLst/>
          </a:prstGeom>
          <a:noFill/>
          <a:ln/>
        </p:spPr>
        <p:txBody>
          <a:bodyPr wrap="square" lIns="0" tIns="0" rIns="0" bIns="0" rtlCol="0" anchor="ctr"/>
          <a:lstStyle/>
          <a:p>
            <a:pPr algn="r" indent="0" marL="0">
              <a:buNone/>
            </a:pPr>
            <a:r>
              <a:rPr lang="en-US" sz="900" dirty="0">
                <a:solidFill>
                  <a:srgbClr val="7F9C9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548640" y="457200"/>
            <a:ext cx="713232" cy="713232"/>
          </a:xfrm>
          <a:prstGeom prst="ellipse">
            <a:avLst/>
          </a:prstGeom>
          <a:solidFill>
            <a:srgbClr val="BE7C1E"/>
          </a:solidFill>
          <a:ln/>
          <a:effectLst>
            <a:outerShdw sx="100000" sy="100000" kx="0" ky="0" algn="bl" rotWithShape="0" blurRad="88900" dist="381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68096" y="649224"/>
            <a:ext cx="292608" cy="329184"/>
          </a:xfrm>
          <a:prstGeom prst="rect">
            <a:avLst/>
          </a:prstGeom>
        </p:spPr>
      </p:pic>
      <p:sp>
        <p:nvSpPr>
          <p:cNvPr id="4" name="Text 1"/>
          <p:cNvSpPr/>
          <p:nvPr/>
        </p:nvSpPr>
        <p:spPr>
          <a:xfrm>
            <a:off x="1463040" y="457200"/>
            <a:ext cx="10058400" cy="713232"/>
          </a:xfrm>
          <a:prstGeom prst="rect">
            <a:avLst/>
          </a:prstGeom>
          <a:noFill/>
          <a:ln/>
        </p:spPr>
        <p:txBody>
          <a:bodyPr wrap="square" lIns="0" tIns="0" rIns="0" bIns="0" rtlCol="0" anchor="ctr"/>
          <a:lstStyle/>
          <a:p>
            <a:pPr indent="0" marL="0">
              <a:buNone/>
            </a:pPr>
            <a:r>
              <a:rPr lang="en-US" sz="3000" b="1" dirty="0">
                <a:solidFill>
                  <a:srgbClr val="1C2B2A"/>
                </a:solidFill>
                <a:latin typeface="Georgia" pitchFamily="34" charset="0"/>
                <a:ea typeface="Georgia" pitchFamily="34" charset="-122"/>
                <a:cs typeface="Georgia" pitchFamily="34" charset="-120"/>
              </a:rPr>
              <a:t>Takeaways</a:t>
            </a:r>
            <a:endParaRPr lang="en-US" sz="3000" dirty="0"/>
          </a:p>
        </p:txBody>
      </p:sp>
      <p:sp>
        <p:nvSpPr>
          <p:cNvPr id="5" name="Shape 2"/>
          <p:cNvSpPr/>
          <p:nvPr/>
        </p:nvSpPr>
        <p:spPr>
          <a:xfrm>
            <a:off x="548640" y="1554480"/>
            <a:ext cx="11091672" cy="928116"/>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6" name="Shape 3"/>
          <p:cNvSpPr/>
          <p:nvPr/>
        </p:nvSpPr>
        <p:spPr>
          <a:xfrm>
            <a:off x="548640" y="1554480"/>
            <a:ext cx="73152" cy="928116"/>
          </a:xfrm>
          <a:prstGeom prst="rect">
            <a:avLst/>
          </a:prstGeom>
          <a:solidFill>
            <a:srgbClr val="12736E"/>
          </a:solidFill>
          <a:ln/>
        </p:spPr>
      </p:sp>
      <p:sp>
        <p:nvSpPr>
          <p:cNvPr id="7" name="Text 4"/>
          <p:cNvSpPr/>
          <p:nvPr/>
        </p:nvSpPr>
        <p:spPr>
          <a:xfrm>
            <a:off x="822960" y="1554480"/>
            <a:ext cx="731520" cy="928116"/>
          </a:xfrm>
          <a:prstGeom prst="rect">
            <a:avLst/>
          </a:prstGeom>
          <a:noFill/>
          <a:ln/>
        </p:spPr>
        <p:txBody>
          <a:bodyPr wrap="square" lIns="0" tIns="0" rIns="0" bIns="0" rtlCol="0" anchor="ctr"/>
          <a:lstStyle/>
          <a:p>
            <a:pPr algn="ctr" indent="0" marL="0">
              <a:buNone/>
            </a:pPr>
            <a:r>
              <a:rPr lang="en-US" sz="3000" b="1" dirty="0">
                <a:solidFill>
                  <a:srgbClr val="12736E"/>
                </a:solidFill>
                <a:latin typeface="Georgia" pitchFamily="34" charset="0"/>
                <a:ea typeface="Georgia" pitchFamily="34" charset="-122"/>
                <a:cs typeface="Georgia" pitchFamily="34" charset="-120"/>
              </a:rPr>
              <a:t>1</a:t>
            </a:r>
            <a:endParaRPr lang="en-US" sz="3000" dirty="0"/>
          </a:p>
        </p:txBody>
      </p:sp>
      <p:sp>
        <p:nvSpPr>
          <p:cNvPr id="8" name="Text 5"/>
          <p:cNvSpPr/>
          <p:nvPr/>
        </p:nvSpPr>
        <p:spPr>
          <a:xfrm>
            <a:off x="1691640" y="1600200"/>
            <a:ext cx="9628632" cy="836676"/>
          </a:xfrm>
          <a:prstGeom prst="rect">
            <a:avLst/>
          </a:prstGeom>
          <a:noFill/>
          <a:ln/>
        </p:spPr>
        <p:txBody>
          <a:bodyPr wrap="square" lIns="0" tIns="0" rIns="0" bIns="0" rtlCol="0" anchor="ctr"/>
          <a:lstStyle/>
          <a:p>
            <a:pPr indent="0" marL="0">
              <a:lnSpc>
                <a:spcPct val="103000"/>
              </a:lnSpc>
              <a:buNone/>
            </a:pPr>
            <a:r>
              <a:rPr lang="en-US" sz="1500" b="1" dirty="0">
                <a:solidFill>
                  <a:srgbClr val="1C2B2A"/>
                </a:solidFill>
                <a:latin typeface="Calibri" pitchFamily="34" charset="0"/>
                <a:ea typeface="Calibri" pitchFamily="34" charset="-122"/>
                <a:cs typeface="Calibri" pitchFamily="34" charset="-120"/>
              </a:rPr>
              <a:t>The financing model follows the asset.   </a:t>
            </a:r>
            <a:pPr indent="0" marL="0">
              <a:lnSpc>
                <a:spcPct val="103000"/>
              </a:lnSpc>
              <a:buNone/>
            </a:pPr>
            <a:r>
              <a:rPr lang="en-US" sz="1300" dirty="0">
                <a:solidFill>
                  <a:srgbClr val="44504E"/>
                </a:solidFill>
                <a:latin typeface="Calibri" pitchFamily="34" charset="0"/>
                <a:ea typeface="Calibri" pitchFamily="34" charset="-122"/>
                <a:cs typeface="Calibri" pitchFamily="34" charset="-120"/>
              </a:rPr>
              <a:t>Minerals invite an equity JV; an export platform attracts blended equity; bankable materials suit green debt.</a:t>
            </a:r>
            <a:endParaRPr lang="en-US" sz="1500" dirty="0"/>
          </a:p>
        </p:txBody>
      </p:sp>
      <p:sp>
        <p:nvSpPr>
          <p:cNvPr id="9" name="Shape 6"/>
          <p:cNvSpPr/>
          <p:nvPr/>
        </p:nvSpPr>
        <p:spPr>
          <a:xfrm>
            <a:off x="548640" y="2738628"/>
            <a:ext cx="11091672" cy="928116"/>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10" name="Shape 7"/>
          <p:cNvSpPr/>
          <p:nvPr/>
        </p:nvSpPr>
        <p:spPr>
          <a:xfrm>
            <a:off x="548640" y="2738628"/>
            <a:ext cx="73152" cy="928116"/>
          </a:xfrm>
          <a:prstGeom prst="rect">
            <a:avLst/>
          </a:prstGeom>
          <a:solidFill>
            <a:srgbClr val="BE7C1E"/>
          </a:solidFill>
          <a:ln/>
        </p:spPr>
      </p:sp>
      <p:sp>
        <p:nvSpPr>
          <p:cNvPr id="11" name="Text 8"/>
          <p:cNvSpPr/>
          <p:nvPr/>
        </p:nvSpPr>
        <p:spPr>
          <a:xfrm>
            <a:off x="822960" y="2738628"/>
            <a:ext cx="731520" cy="928116"/>
          </a:xfrm>
          <a:prstGeom prst="rect">
            <a:avLst/>
          </a:prstGeom>
          <a:noFill/>
          <a:ln/>
        </p:spPr>
        <p:txBody>
          <a:bodyPr wrap="square" lIns="0" tIns="0" rIns="0" bIns="0" rtlCol="0" anchor="ctr"/>
          <a:lstStyle/>
          <a:p>
            <a:pPr algn="ctr" indent="0" marL="0">
              <a:buNone/>
            </a:pPr>
            <a:r>
              <a:rPr lang="en-US" sz="3000" b="1" dirty="0">
                <a:solidFill>
                  <a:srgbClr val="BE7C1E"/>
                </a:solidFill>
                <a:latin typeface="Georgia" pitchFamily="34" charset="0"/>
                <a:ea typeface="Georgia" pitchFamily="34" charset="-122"/>
                <a:cs typeface="Georgia" pitchFamily="34" charset="-120"/>
              </a:rPr>
              <a:t>2</a:t>
            </a:r>
            <a:endParaRPr lang="en-US" sz="3000" dirty="0"/>
          </a:p>
        </p:txBody>
      </p:sp>
      <p:sp>
        <p:nvSpPr>
          <p:cNvPr id="12" name="Text 9"/>
          <p:cNvSpPr/>
          <p:nvPr/>
        </p:nvSpPr>
        <p:spPr>
          <a:xfrm>
            <a:off x="1691640" y="2784348"/>
            <a:ext cx="9628632" cy="836676"/>
          </a:xfrm>
          <a:prstGeom prst="rect">
            <a:avLst/>
          </a:prstGeom>
          <a:noFill/>
          <a:ln/>
        </p:spPr>
        <p:txBody>
          <a:bodyPr wrap="square" lIns="0" tIns="0" rIns="0" bIns="0" rtlCol="0" anchor="ctr"/>
          <a:lstStyle/>
          <a:p>
            <a:pPr indent="0" marL="0">
              <a:lnSpc>
                <a:spcPct val="103000"/>
              </a:lnSpc>
              <a:buNone/>
            </a:pPr>
            <a:r>
              <a:rPr lang="en-US" sz="1500" b="1" dirty="0">
                <a:solidFill>
                  <a:srgbClr val="1C2B2A"/>
                </a:solidFill>
                <a:latin typeface="Calibri" pitchFamily="34" charset="0"/>
                <a:ea typeface="Calibri" pitchFamily="34" charset="-122"/>
                <a:cs typeface="Calibri" pitchFamily="34" charset="-120"/>
              </a:rPr>
              <a:t>Host-state co-investment is becoming the norm.   </a:t>
            </a:r>
            <a:pPr indent="0" marL="0">
              <a:lnSpc>
                <a:spcPct val="103000"/>
              </a:lnSpc>
              <a:buNone/>
            </a:pPr>
            <a:r>
              <a:rPr lang="en-US" sz="1300" dirty="0">
                <a:solidFill>
                  <a:srgbClr val="44504E"/>
                </a:solidFill>
                <a:latin typeface="Calibri" pitchFamily="34" charset="0"/>
                <a:ea typeface="Calibri" pitchFamily="34" charset="-122"/>
                <a:cs typeface="Calibri" pitchFamily="34" charset="-120"/>
              </a:rPr>
              <a:t>Equity stakes, sovereign funds and local partners now sit inside the deals — not just on the sidelines.</a:t>
            </a:r>
            <a:endParaRPr lang="en-US" sz="1500" dirty="0"/>
          </a:p>
        </p:txBody>
      </p:sp>
      <p:sp>
        <p:nvSpPr>
          <p:cNvPr id="13" name="Shape 10"/>
          <p:cNvSpPr/>
          <p:nvPr/>
        </p:nvSpPr>
        <p:spPr>
          <a:xfrm>
            <a:off x="548640" y="3922776"/>
            <a:ext cx="11091672" cy="928116"/>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14" name="Shape 11"/>
          <p:cNvSpPr/>
          <p:nvPr/>
        </p:nvSpPr>
        <p:spPr>
          <a:xfrm>
            <a:off x="548640" y="3922776"/>
            <a:ext cx="73152" cy="928116"/>
          </a:xfrm>
          <a:prstGeom prst="rect">
            <a:avLst/>
          </a:prstGeom>
          <a:solidFill>
            <a:srgbClr val="2F6690"/>
          </a:solidFill>
          <a:ln/>
        </p:spPr>
      </p:sp>
      <p:sp>
        <p:nvSpPr>
          <p:cNvPr id="15" name="Text 12"/>
          <p:cNvSpPr/>
          <p:nvPr/>
        </p:nvSpPr>
        <p:spPr>
          <a:xfrm>
            <a:off x="822960" y="3922776"/>
            <a:ext cx="731520" cy="928116"/>
          </a:xfrm>
          <a:prstGeom prst="rect">
            <a:avLst/>
          </a:prstGeom>
          <a:noFill/>
          <a:ln/>
        </p:spPr>
        <p:txBody>
          <a:bodyPr wrap="square" lIns="0" tIns="0" rIns="0" bIns="0" rtlCol="0" anchor="ctr"/>
          <a:lstStyle/>
          <a:p>
            <a:pPr algn="ctr" indent="0" marL="0">
              <a:buNone/>
            </a:pPr>
            <a:r>
              <a:rPr lang="en-US" sz="3000" b="1" dirty="0">
                <a:solidFill>
                  <a:srgbClr val="2F6690"/>
                </a:solidFill>
                <a:latin typeface="Georgia" pitchFamily="34" charset="0"/>
                <a:ea typeface="Georgia" pitchFamily="34" charset="-122"/>
                <a:cs typeface="Georgia" pitchFamily="34" charset="-120"/>
              </a:rPr>
              <a:t>3</a:t>
            </a:r>
            <a:endParaRPr lang="en-US" sz="3000" dirty="0"/>
          </a:p>
        </p:txBody>
      </p:sp>
      <p:sp>
        <p:nvSpPr>
          <p:cNvPr id="16" name="Text 13"/>
          <p:cNvSpPr/>
          <p:nvPr/>
        </p:nvSpPr>
        <p:spPr>
          <a:xfrm>
            <a:off x="1691640" y="3968496"/>
            <a:ext cx="9628632" cy="836676"/>
          </a:xfrm>
          <a:prstGeom prst="rect">
            <a:avLst/>
          </a:prstGeom>
          <a:noFill/>
          <a:ln/>
        </p:spPr>
        <p:txBody>
          <a:bodyPr wrap="square" lIns="0" tIns="0" rIns="0" bIns="0" rtlCol="0" anchor="ctr"/>
          <a:lstStyle/>
          <a:p>
            <a:pPr indent="0" marL="0">
              <a:lnSpc>
                <a:spcPct val="103000"/>
              </a:lnSpc>
              <a:buNone/>
            </a:pPr>
            <a:r>
              <a:rPr lang="en-US" sz="1500" b="1" dirty="0">
                <a:solidFill>
                  <a:srgbClr val="1C2B2A"/>
                </a:solidFill>
                <a:latin typeface="Calibri" pitchFamily="34" charset="0"/>
                <a:ea typeface="Calibri" pitchFamily="34" charset="-122"/>
                <a:cs typeface="Calibri" pitchFamily="34" charset="-120"/>
              </a:rPr>
              <a:t>Export-credit insurance is the quiet enabler.   </a:t>
            </a:r>
            <a:pPr indent="0" marL="0">
              <a:lnSpc>
                <a:spcPct val="103000"/>
              </a:lnSpc>
              <a:buNone/>
            </a:pPr>
            <a:r>
              <a:rPr lang="en-US" sz="1300" dirty="0">
                <a:solidFill>
                  <a:srgbClr val="44504E"/>
                </a:solidFill>
                <a:latin typeface="Calibri" pitchFamily="34" charset="0"/>
                <a:ea typeface="Calibri" pitchFamily="34" charset="-122"/>
                <a:cs typeface="Calibri" pitchFamily="34" charset="-120"/>
              </a:rPr>
              <a:t>Sinosure cover pulls global commercial banks into projects they would otherwise hesitate to fund.</a:t>
            </a:r>
            <a:endParaRPr lang="en-US" sz="1500" dirty="0"/>
          </a:p>
        </p:txBody>
      </p:sp>
      <p:sp>
        <p:nvSpPr>
          <p:cNvPr id="17" name="Shape 14"/>
          <p:cNvSpPr/>
          <p:nvPr/>
        </p:nvSpPr>
        <p:spPr>
          <a:xfrm>
            <a:off x="548640" y="5106924"/>
            <a:ext cx="11091672" cy="928116"/>
          </a:xfrm>
          <a:prstGeom prst="rect">
            <a:avLst/>
          </a:prstGeom>
          <a:solidFill>
            <a:srgbClr val="FFFFFF"/>
          </a:solidFill>
          <a:ln w="12700">
            <a:solidFill>
              <a:srgbClr val="E5DFD4"/>
            </a:solidFill>
            <a:prstDash val="solid"/>
          </a:ln>
          <a:effectLst>
            <a:outerShdw sx="100000" sy="100000" kx="0" ky="0" algn="bl" rotWithShape="0" blurRad="88900" dist="38100" dir="8100000">
              <a:srgbClr val="000000">
                <a:alpha val="12000"/>
              </a:srgbClr>
            </a:outerShdw>
          </a:effectLst>
        </p:spPr>
      </p:sp>
      <p:sp>
        <p:nvSpPr>
          <p:cNvPr id="18" name="Shape 15"/>
          <p:cNvSpPr/>
          <p:nvPr/>
        </p:nvSpPr>
        <p:spPr>
          <a:xfrm>
            <a:off x="548640" y="5106924"/>
            <a:ext cx="73152" cy="928116"/>
          </a:xfrm>
          <a:prstGeom prst="rect">
            <a:avLst/>
          </a:prstGeom>
          <a:solidFill>
            <a:srgbClr val="0C3B3A"/>
          </a:solidFill>
          <a:ln/>
        </p:spPr>
      </p:sp>
      <p:sp>
        <p:nvSpPr>
          <p:cNvPr id="19" name="Text 16"/>
          <p:cNvSpPr/>
          <p:nvPr/>
        </p:nvSpPr>
        <p:spPr>
          <a:xfrm>
            <a:off x="822960" y="5106924"/>
            <a:ext cx="731520" cy="928116"/>
          </a:xfrm>
          <a:prstGeom prst="rect">
            <a:avLst/>
          </a:prstGeom>
          <a:noFill/>
          <a:ln/>
        </p:spPr>
        <p:txBody>
          <a:bodyPr wrap="square" lIns="0" tIns="0" rIns="0" bIns="0" rtlCol="0" anchor="ctr"/>
          <a:lstStyle/>
          <a:p>
            <a:pPr algn="ctr" indent="0" marL="0">
              <a:buNone/>
            </a:pPr>
            <a:r>
              <a:rPr lang="en-US" sz="3000" b="1" dirty="0">
                <a:solidFill>
                  <a:srgbClr val="0C3B3A"/>
                </a:solidFill>
                <a:latin typeface="Georgia" pitchFamily="34" charset="0"/>
                <a:ea typeface="Georgia" pitchFamily="34" charset="-122"/>
                <a:cs typeface="Georgia" pitchFamily="34" charset="-120"/>
              </a:rPr>
              <a:t>4</a:t>
            </a:r>
            <a:endParaRPr lang="en-US" sz="3000" dirty="0"/>
          </a:p>
        </p:txBody>
      </p:sp>
      <p:sp>
        <p:nvSpPr>
          <p:cNvPr id="20" name="Text 17"/>
          <p:cNvSpPr/>
          <p:nvPr/>
        </p:nvSpPr>
        <p:spPr>
          <a:xfrm>
            <a:off x="1691640" y="5152644"/>
            <a:ext cx="9628632" cy="836676"/>
          </a:xfrm>
          <a:prstGeom prst="rect">
            <a:avLst/>
          </a:prstGeom>
          <a:noFill/>
          <a:ln/>
        </p:spPr>
        <p:txBody>
          <a:bodyPr wrap="square" lIns="0" tIns="0" rIns="0" bIns="0" rtlCol="0" anchor="ctr"/>
          <a:lstStyle/>
          <a:p>
            <a:pPr indent="0" marL="0">
              <a:lnSpc>
                <a:spcPct val="103000"/>
              </a:lnSpc>
              <a:buNone/>
            </a:pPr>
            <a:r>
              <a:rPr lang="en-US" sz="1500" b="1" dirty="0">
                <a:solidFill>
                  <a:srgbClr val="1C2B2A"/>
                </a:solidFill>
                <a:latin typeface="Calibri" pitchFamily="34" charset="0"/>
                <a:ea typeface="Calibri" pitchFamily="34" charset="-122"/>
                <a:cs typeface="Calibri" pitchFamily="34" charset="-120"/>
              </a:rPr>
              <a:t>The Global South's EV supply chain is being financed by Chinese-anchored structures.   </a:t>
            </a:r>
            <a:pPr indent="0" marL="0">
              <a:lnSpc>
                <a:spcPct val="103000"/>
              </a:lnSpc>
              <a:buNone/>
            </a:pPr>
            <a:r>
              <a:rPr lang="en-US" sz="1300" dirty="0">
                <a:solidFill>
                  <a:srgbClr val="44504E"/>
                </a:solidFill>
                <a:latin typeface="Calibri" pitchFamily="34" charset="0"/>
                <a:ea typeface="Calibri" pitchFamily="34" charset="-122"/>
                <a:cs typeface="Calibri" pitchFamily="34" charset="-120"/>
              </a:rPr>
              <a:t>That brings real industrialization — and real questions about balance and dependence.</a:t>
            </a:r>
            <a:endParaRPr lang="en-US" sz="1500" dirty="0"/>
          </a:p>
        </p:txBody>
      </p:sp>
      <p:sp>
        <p:nvSpPr>
          <p:cNvPr id="21" name="Text 18"/>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A6AFAD"/>
                </a:solidFill>
                <a:latin typeface="Calibri" pitchFamily="34" charset="0"/>
                <a:ea typeface="Calibri" pitchFamily="34" charset="-122"/>
                <a:cs typeface="Calibri" pitchFamily="34" charset="-120"/>
              </a:rPr>
              <a:t>BRI Renewable Energy Database  ·  Chinese New-Energy Manufacturing Abroad</a:t>
            </a:r>
            <a:endParaRPr lang="en-US" sz="900" dirty="0"/>
          </a:p>
        </p:txBody>
      </p:sp>
      <p:sp>
        <p:nvSpPr>
          <p:cNvPr id="22" name="Text 19"/>
          <p:cNvSpPr/>
          <p:nvPr/>
        </p:nvSpPr>
        <p:spPr>
          <a:xfrm>
            <a:off x="11183112" y="6455664"/>
            <a:ext cx="457200" cy="274320"/>
          </a:xfrm>
          <a:prstGeom prst="rect">
            <a:avLst/>
          </a:prstGeom>
          <a:noFill/>
          <a:ln/>
        </p:spPr>
        <p:txBody>
          <a:bodyPr wrap="square" lIns="0" tIns="0" rIns="0" bIns="0" rtlCol="0" anchor="ctr"/>
          <a:lstStyle/>
          <a:p>
            <a:pPr algn="r" indent="0" marL="0">
              <a:buNone/>
            </a:pPr>
            <a:r>
              <a:rPr lang="en-US" sz="900" dirty="0">
                <a:solidFill>
                  <a:srgbClr val="A6AFA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3B3A"/>
        </a:solidFill>
      </p:bgPr>
    </p:bg>
    <p:spTree>
      <p:nvGrpSpPr>
        <p:cNvPr id="1" name=""/>
        <p:cNvGrpSpPr/>
        <p:nvPr/>
      </p:nvGrpSpPr>
      <p:grpSpPr>
        <a:xfrm>
          <a:off x="0" y="0"/>
          <a:ext cx="0" cy="0"/>
          <a:chOff x="0" y="0"/>
          <a:chExt cx="0" cy="0"/>
        </a:xfrm>
      </p:grpSpPr>
      <p:sp>
        <p:nvSpPr>
          <p:cNvPr id="2" name="Shape 0"/>
          <p:cNvSpPr/>
          <p:nvPr/>
        </p:nvSpPr>
        <p:spPr>
          <a:xfrm>
            <a:off x="548640" y="1097280"/>
            <a:ext cx="201168" cy="201168"/>
          </a:xfrm>
          <a:prstGeom prst="ellipse">
            <a:avLst/>
          </a:prstGeom>
          <a:solidFill>
            <a:srgbClr val="12736E"/>
          </a:solidFill>
          <a:ln/>
        </p:spPr>
      </p:sp>
      <p:sp>
        <p:nvSpPr>
          <p:cNvPr id="3" name="Shape 1"/>
          <p:cNvSpPr/>
          <p:nvPr/>
        </p:nvSpPr>
        <p:spPr>
          <a:xfrm>
            <a:off x="841248" y="1097280"/>
            <a:ext cx="201168" cy="201168"/>
          </a:xfrm>
          <a:prstGeom prst="ellipse">
            <a:avLst/>
          </a:prstGeom>
          <a:solidFill>
            <a:srgbClr val="BE7C1E"/>
          </a:solidFill>
          <a:ln/>
        </p:spPr>
      </p:sp>
      <p:sp>
        <p:nvSpPr>
          <p:cNvPr id="4" name="Shape 2"/>
          <p:cNvSpPr/>
          <p:nvPr/>
        </p:nvSpPr>
        <p:spPr>
          <a:xfrm>
            <a:off x="1133856" y="1097280"/>
            <a:ext cx="201168" cy="201168"/>
          </a:xfrm>
          <a:prstGeom prst="ellipse">
            <a:avLst/>
          </a:prstGeom>
          <a:solidFill>
            <a:srgbClr val="2F6690"/>
          </a:solidFill>
          <a:ln/>
        </p:spPr>
      </p:sp>
      <p:sp>
        <p:nvSpPr>
          <p:cNvPr id="5" name="Text 3"/>
          <p:cNvSpPr/>
          <p:nvPr/>
        </p:nvSpPr>
        <p:spPr>
          <a:xfrm>
            <a:off x="548640" y="1554480"/>
            <a:ext cx="10972800" cy="9144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6" name="Text 4"/>
          <p:cNvSpPr/>
          <p:nvPr/>
        </p:nvSpPr>
        <p:spPr>
          <a:xfrm>
            <a:off x="548640" y="2606040"/>
            <a:ext cx="10058400" cy="731520"/>
          </a:xfrm>
          <a:prstGeom prst="rect">
            <a:avLst/>
          </a:prstGeom>
          <a:noFill/>
          <a:ln/>
        </p:spPr>
        <p:txBody>
          <a:bodyPr wrap="square" lIns="0" tIns="0" rIns="0" bIns="0" rtlCol="0" anchor="ctr"/>
          <a:lstStyle/>
          <a:p>
            <a:pPr indent="0" marL="0">
              <a:buNone/>
            </a:pPr>
            <a:r>
              <a:rPr lang="en-US" sz="1800" dirty="0">
                <a:solidFill>
                  <a:srgbClr val="CFE0DE"/>
                </a:solidFill>
                <a:latin typeface="Calibri" pitchFamily="34" charset="0"/>
                <a:ea typeface="Calibri" pitchFamily="34" charset="-122"/>
                <a:cs typeface="Calibri" pitchFamily="34" charset="-120"/>
              </a:rPr>
              <a:t>Three countries, three financing models — one supply chain taking shape across the Global South.</a:t>
            </a:r>
            <a:endParaRPr lang="en-US" sz="1800" dirty="0"/>
          </a:p>
        </p:txBody>
      </p:sp>
      <p:sp>
        <p:nvSpPr>
          <p:cNvPr id="7" name="Shape 5"/>
          <p:cNvSpPr/>
          <p:nvPr/>
        </p:nvSpPr>
        <p:spPr>
          <a:xfrm>
            <a:off x="548640" y="3840480"/>
            <a:ext cx="11091672" cy="1828800"/>
          </a:xfrm>
          <a:prstGeom prst="rect">
            <a:avLst/>
          </a:prstGeom>
          <a:solidFill>
            <a:srgbClr val="0F4A47"/>
          </a:solidFill>
          <a:ln/>
        </p:spPr>
      </p:sp>
      <p:sp>
        <p:nvSpPr>
          <p:cNvPr id="8" name="Shape 6"/>
          <p:cNvSpPr/>
          <p:nvPr/>
        </p:nvSpPr>
        <p:spPr>
          <a:xfrm>
            <a:off x="548640" y="3840480"/>
            <a:ext cx="73152" cy="1828800"/>
          </a:xfrm>
          <a:prstGeom prst="rect">
            <a:avLst/>
          </a:prstGeom>
          <a:solidFill>
            <a:srgbClr val="D9B25A"/>
          </a:solidFill>
          <a:ln/>
        </p:spPr>
      </p:sp>
      <p:sp>
        <p:nvSpPr>
          <p:cNvPr id="9" name="Text 7"/>
          <p:cNvSpPr/>
          <p:nvPr/>
        </p:nvSpPr>
        <p:spPr>
          <a:xfrm>
            <a:off x="868680" y="3977640"/>
            <a:ext cx="10058400" cy="274320"/>
          </a:xfrm>
          <a:prstGeom prst="rect">
            <a:avLst/>
          </a:prstGeom>
          <a:noFill/>
          <a:ln/>
        </p:spPr>
        <p:txBody>
          <a:bodyPr wrap="square" lIns="0" tIns="0" rIns="0" bIns="0" rtlCol="0" anchor="ctr"/>
          <a:lstStyle/>
          <a:p>
            <a:pPr indent="0" marL="0">
              <a:buNone/>
            </a:pPr>
            <a:r>
              <a:rPr lang="en-US" sz="1200" b="1" spc="200" kern="0" dirty="0">
                <a:solidFill>
                  <a:srgbClr val="D9B25A"/>
                </a:solidFill>
                <a:latin typeface="Calibri" pitchFamily="34" charset="0"/>
                <a:ea typeface="Calibri" pitchFamily="34" charset="-122"/>
                <a:cs typeface="Calibri" pitchFamily="34" charset="-120"/>
              </a:rPr>
              <a:t>SOURCES</a:t>
            </a:r>
            <a:endParaRPr lang="en-US" sz="1200" dirty="0"/>
          </a:p>
        </p:txBody>
      </p:sp>
      <p:sp>
        <p:nvSpPr>
          <p:cNvPr id="10" name="Text 8"/>
          <p:cNvSpPr/>
          <p:nvPr/>
        </p:nvSpPr>
        <p:spPr>
          <a:xfrm>
            <a:off x="868680" y="4343400"/>
            <a:ext cx="10451592" cy="1234440"/>
          </a:xfrm>
          <a:prstGeom prst="rect">
            <a:avLst/>
          </a:prstGeom>
          <a:noFill/>
          <a:ln/>
        </p:spPr>
        <p:txBody>
          <a:bodyPr wrap="square" lIns="0" tIns="0" rIns="0" bIns="0" rtlCol="0" anchor="t"/>
          <a:lstStyle/>
          <a:p>
            <a:pPr indent="0" marL="0">
              <a:lnSpc>
                <a:spcPct val="105000"/>
              </a:lnSpc>
              <a:spcAft>
                <a:spcPts val="600"/>
              </a:spcAft>
              <a:buNone/>
            </a:pPr>
            <a:r>
              <a:rPr lang="en-US" sz="1300" dirty="0">
                <a:solidFill>
                  <a:srgbClr val="E7F0EF"/>
                </a:solidFill>
                <a:latin typeface="Calibri" pitchFamily="34" charset="0"/>
                <a:ea typeface="Calibri" pitchFamily="34" charset="-122"/>
                <a:cs typeface="Calibri" pitchFamily="34" charset="-120"/>
              </a:rPr>
              <a:t>Project data — BRI Renewable Energy Database (2026).</a:t>
            </a:r>
            <a:endParaRPr lang="en-US" sz="1300" dirty="0"/>
          </a:p>
          <a:p>
            <a:pPr indent="0" marL="0">
              <a:lnSpc>
                <a:spcPct val="105000"/>
              </a:lnSpc>
              <a:spcAft>
                <a:spcPts val="600"/>
              </a:spcAft>
              <a:buNone/>
            </a:pPr>
            <a:r>
              <a:rPr lang="en-US" sz="1300" dirty="0">
                <a:solidFill>
                  <a:srgbClr val="E7F0EF"/>
                </a:solidFill>
                <a:latin typeface="Calibri" pitchFamily="34" charset="0"/>
                <a:ea typeface="Calibri" pitchFamily="34" charset="-122"/>
                <a:cs typeface="Calibri" pitchFamily="34" charset="-120"/>
              </a:rPr>
              <a:t>Case details — CATL, Gotion High-Tech and COBCO / CNGR corporate disclosures.</a:t>
            </a:r>
            <a:endParaRPr lang="en-US" sz="1300" dirty="0"/>
          </a:p>
          <a:p>
            <a:pPr indent="0" marL="0">
              <a:lnSpc>
                <a:spcPct val="105000"/>
              </a:lnSpc>
              <a:buNone/>
            </a:pPr>
            <a:r>
              <a:rPr lang="en-US" sz="1300" dirty="0">
                <a:solidFill>
                  <a:srgbClr val="E7F0EF"/>
                </a:solidFill>
                <a:latin typeface="Calibri" pitchFamily="34" charset="0"/>
                <a:ea typeface="Calibri" pitchFamily="34" charset="-122"/>
                <a:cs typeface="Calibri" pitchFamily="34" charset="-120"/>
              </a:rPr>
              <a:t>Reporting — Caixin Global, electrive, Energy-Storage.News, Benchmark Minerals, Morocco World News, Mysteel (2024–2025).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Financing the Batteries Behind the EV Transition</dc:title>
  <dc:subject>PptxGenJS Presentation</dc:subject>
  <dc:creator>BRI Renewable Energy Database</dc:creator>
  <cp:lastModifiedBy>BRI Renewable Energy Database</cp:lastModifiedBy>
  <cp:revision>1</cp:revision>
  <dcterms:created xsi:type="dcterms:W3CDTF">2026-05-25T14:15:04Z</dcterms:created>
  <dcterms:modified xsi:type="dcterms:W3CDTF">2026-05-25T14:15:04Z</dcterms:modified>
</cp:coreProperties>
</file>